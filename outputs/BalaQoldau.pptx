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376DE52-6EE1-483B-B9EE-BC443C05E1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2" name="Параллелограмм 1">
            <a:extLst>
              <a:ext uri="{FF2B5EF4-FFF2-40B4-BE49-F238E27FC236}">
                <a16:creationId xmlns:a16="http://schemas.microsoft.com/office/drawing/2014/main" id="{ABD13440-31AE-42BD-A451-7D458D3DCE07}"/>
              </a:ext>
            </a:extLst>
          </p:cNvPr>
          <p:cNvSpPr>
            <a:spLocks noGrp="1"/>
          </p:cNvSpPr>
          <p:nvPr/>
        </p:nvSpPr>
        <p:spPr>
          <a:xfrm>
            <a:off x="8096250" y="-571500"/>
            <a:ext cx="4762500" cy="8001000"/>
          </a:xfrm>
          <a:prstGeom prst="parallelogram">
            <a:avLst/>
          </a:prstGeom>
          <a:solidFill>
            <a:srgbClr val="DDF4EE"/>
          </a:solidFill>
          <a:ln w="0">
            <a:noFill/>
            <a:prstDash val="solid"/>
          </a:ln>
        </p:spPr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61CFEF23-3D82-4200-8E9A-31B38FA959FA}"/>
              </a:ext>
            </a:extLst>
          </p:cNvPr>
          <p:cNvSpPr>
            <a:spLocks noGrp="1"/>
          </p:cNvSpPr>
          <p:nvPr/>
        </p:nvSpPr>
        <p:spPr>
          <a:xfrm>
            <a:off x="7477125" y="1047750"/>
            <a:ext cx="4381500" cy="4381500"/>
          </a:xfrm>
          <a:prstGeom prst="ellipse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9B2433D4-5A14-48F7-BD00-0743B5123CB8}"/>
              </a:ext>
            </a:extLst>
          </p:cNvPr>
          <p:cNvSpPr>
            <a:spLocks noGrp="1"/>
          </p:cNvSpPr>
          <p:nvPr/>
        </p:nvSpPr>
        <p:spPr>
          <a:xfrm>
            <a:off x="9544050" y="552450"/>
            <a:ext cx="1028700" cy="10287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" name="Ромб 4">
            <a:extLst>
              <a:ext uri="{FF2B5EF4-FFF2-40B4-BE49-F238E27FC236}">
                <a16:creationId xmlns:a16="http://schemas.microsoft.com/office/drawing/2014/main" id="{F32A71D4-20DC-4BB8-81F0-1288883E8AAF}"/>
              </a:ext>
            </a:extLst>
          </p:cNvPr>
          <p:cNvSpPr>
            <a:spLocks noGrp="1"/>
          </p:cNvSpPr>
          <p:nvPr/>
        </p:nvSpPr>
        <p:spPr>
          <a:xfrm rot="900000">
            <a:off x="11353800" y="838200"/>
            <a:ext cx="247650" cy="247650"/>
          </a:xfrm>
          <a:prstGeom prst="diamond">
            <a:avLst/>
          </a:prstGeom>
          <a:solidFill>
            <a:srgbClr val="FF8E7A"/>
          </a:solidFill>
          <a:ln w="0">
            <a:noFill/>
            <a:prstDash val="solid"/>
          </a:ln>
        </p:spPr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67C8214B-03D1-445E-9942-92F18538CE1C}"/>
              </a:ext>
            </a:extLst>
          </p:cNvPr>
          <p:cNvSpPr>
            <a:spLocks noGrp="1"/>
          </p:cNvSpPr>
          <p:nvPr/>
        </p:nvSpPr>
        <p:spPr>
          <a:xfrm>
            <a:off x="11477625" y="5276850"/>
            <a:ext cx="323850" cy="323850"/>
          </a:xfrm>
          <a:prstGeom prst="ellipse">
            <a:avLst/>
          </a:prstGeom>
          <a:solidFill>
            <a:srgbClr val="35B8A0"/>
          </a:solidFill>
          <a:ln w="0">
            <a:noFill/>
            <a:prstDash val="solid"/>
          </a:ln>
        </p:spPr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DD143D87-20D6-4D23-9D8A-2AF5CED738A9}"/>
              </a:ext>
            </a:extLst>
          </p:cNvPr>
          <p:cNvSpPr>
            <a:spLocks noGrp="1"/>
          </p:cNvSpPr>
          <p:nvPr/>
        </p:nvSpPr>
        <p:spPr>
          <a:xfrm>
            <a:off x="7096125" y="5219700"/>
            <a:ext cx="209550" cy="209550"/>
          </a:xfrm>
          <a:prstGeom prst="ellipse">
            <a:avLst/>
          </a:prstGeom>
          <a:solidFill>
            <a:srgbClr val="69B7F5"/>
          </a:solidFill>
          <a:ln w="0">
            <a:noFill/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D3C25D5-4F28-4D2F-8AC4-F625597D9C0A}"/>
              </a:ext>
            </a:extLst>
          </p:cNvPr>
          <p:cNvSpPr>
            <a:spLocks noGrp="1"/>
          </p:cNvSpPr>
          <p:nvPr/>
        </p:nvSpPr>
        <p:spPr>
          <a:xfrm>
            <a:off x="514350" y="666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ЦИФРОВАЯ ПОДДЕРЖКА СЕМЬИ · ҚАЗАҚСТАН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18BBC3F-9338-4DC4-ACB8-796F345DAC7A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581025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88000"/>
              </a:lnSpc>
              <a:buNone/>
              <a:defRPr sz="4350"/>
            </a:pPr>
            <a:r>
              <a:rPr sz="4350" b="1" dirty="0" err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Один</a:t>
            </a:r>
            <a:r>
              <a:rPr sz="4350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4350" b="1" dirty="0" err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план</a:t>
            </a:r>
            <a:r>
              <a:rPr sz="4350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.
</a:t>
            </a:r>
            <a:r>
              <a:rPr sz="4350" b="1" dirty="0" err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Одна</a:t>
            </a:r>
            <a:r>
              <a:rPr sz="4350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4350" b="1" dirty="0" err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команда</a:t>
            </a:r>
            <a:r>
              <a:rPr sz="4350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A8C240A-7EAA-4FD1-A548-BB8340FBC05A}"/>
              </a:ext>
            </a:extLst>
          </p:cNvPr>
          <p:cNvSpPr>
            <a:spLocks noGrp="1"/>
          </p:cNvSpPr>
          <p:nvPr/>
        </p:nvSpPr>
        <p:spPr>
          <a:xfrm>
            <a:off x="514350" y="2495550"/>
            <a:ext cx="581025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88000"/>
              </a:lnSpc>
              <a:buNone/>
              <a:defRPr sz="4350"/>
            </a:pPr>
            <a:r>
              <a:rPr sz="4350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Каждый</a:t>
            </a:r>
            <a:r>
              <a:rPr sz="4350" b="1" dirty="0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4350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шаг</a:t>
            </a:r>
            <a:r>
              <a:rPr sz="4350" b="1" dirty="0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
</a:t>
            </a:r>
            <a:r>
              <a:rPr sz="4350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важен</a:t>
            </a:r>
            <a:r>
              <a:rPr sz="4350" b="1" dirty="0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707140A-6999-429B-B65D-6F647F659924}"/>
              </a:ext>
            </a:extLst>
          </p:cNvPr>
          <p:cNvSpPr>
            <a:spLocks noGrp="1"/>
          </p:cNvSpPr>
          <p:nvPr/>
        </p:nvSpPr>
        <p:spPr>
          <a:xfrm>
            <a:off x="552450" y="4210050"/>
            <a:ext cx="5715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BalaQoldau — двуязычная AI-платформа, которая связывает семью, специалиста и ежедневную практику в одном понятном маршруте.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137D377-4DFB-42AF-9B83-D93BC727F00A}"/>
              </a:ext>
            </a:extLst>
          </p:cNvPr>
          <p:cNvSpPr>
            <a:spLocks noGrp="1"/>
          </p:cNvSpPr>
          <p:nvPr/>
        </p:nvSpPr>
        <p:spPr>
          <a:xfrm>
            <a:off x="552450" y="5257800"/>
            <a:ext cx="1676400" cy="400050"/>
          </a:xfrm>
          <a:prstGeom prst="roundRect">
            <a:avLst>
              <a:gd name="adj" fmla="val 19048"/>
            </a:avLst>
          </a:prstGeom>
          <a:solidFill>
            <a:srgbClr val="35B8A0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6C348F6-2A6D-4663-BA49-F4331DB3B7D7}"/>
              </a:ext>
            </a:extLst>
          </p:cNvPr>
          <p:cNvSpPr>
            <a:spLocks noGrp="1"/>
          </p:cNvSpPr>
          <p:nvPr/>
        </p:nvSpPr>
        <p:spPr>
          <a:xfrm>
            <a:off x="647700" y="5267325"/>
            <a:ext cx="1485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 + ҚАЗАҚША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745CBE0C-C3EC-4D58-9BB9-2B45D7941FD9}"/>
              </a:ext>
            </a:extLst>
          </p:cNvPr>
          <p:cNvSpPr>
            <a:spLocks noGrp="1"/>
          </p:cNvSpPr>
          <p:nvPr/>
        </p:nvSpPr>
        <p:spPr>
          <a:xfrm>
            <a:off x="2362200" y="5257800"/>
            <a:ext cx="1924050" cy="400050"/>
          </a:xfrm>
          <a:prstGeom prst="roundRect">
            <a:avLst>
              <a:gd name="adj" fmla="val 19048"/>
            </a:avLst>
          </a:prstGeom>
          <a:solidFill>
            <a:srgbClr val="FF8E7A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93B71F0-C5FA-4965-A20F-AE0AE437EC17}"/>
              </a:ext>
            </a:extLst>
          </p:cNvPr>
          <p:cNvSpPr>
            <a:spLocks noGrp="1"/>
          </p:cNvSpPr>
          <p:nvPr/>
        </p:nvSpPr>
        <p:spPr>
          <a:xfrm>
            <a:off x="2457450" y="5267325"/>
            <a:ext cx="1733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AI + СПЕЦИАЛИСТ</a:t>
            </a:r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48575" y="1762125"/>
            <a:ext cx="4000500" cy="2667000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2F83EFA-9098-4579-B136-404E82874A71}"/>
              </a:ext>
            </a:extLst>
          </p:cNvPr>
          <p:cNvSpPr>
            <a:spLocks noGrp="1"/>
          </p:cNvSpPr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35B8A0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C2ED6D9-5DBC-4B1E-A1B4-22DB29F837EE}"/>
              </a:ext>
            </a:extLst>
          </p:cNvPr>
          <p:cNvSpPr>
            <a:spLocks noGrp="1"/>
          </p:cNvSpPr>
          <p:nvPr/>
        </p:nvSpPr>
        <p:spPr>
          <a:xfrm>
            <a:off x="514350" y="6115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975" b="1" dirty="0" err="1">
                <a:solidFill>
                  <a:srgbClr val="64757C"/>
                </a:solidFill>
                <a:latin typeface="Arial"/>
                <a:ea typeface="Arial"/>
                <a:cs typeface="Arial"/>
              </a:rPr>
              <a:t>BalaQoldau</a:t>
            </a:r>
            <a:r>
              <a:rPr sz="975" b="1" dirty="0">
                <a:solidFill>
                  <a:srgbClr val="64757C"/>
                </a:solidFill>
                <a:latin typeface="Arial"/>
                <a:ea typeface="Arial"/>
                <a:cs typeface="Arial"/>
              </a:rPr>
              <a:t> · </a:t>
            </a:r>
            <a:r>
              <a:rPr sz="975" b="1" dirty="0" err="1">
                <a:solidFill>
                  <a:srgbClr val="64757C"/>
                </a:solidFill>
                <a:latin typeface="Arial"/>
                <a:ea typeface="Arial"/>
                <a:cs typeface="Arial"/>
              </a:rPr>
              <a:t>Баланы</a:t>
            </a:r>
            <a:r>
              <a:rPr sz="975" b="1" dirty="0">
                <a:solidFill>
                  <a:srgbClr val="64757C"/>
                </a:solidFill>
                <a:latin typeface="Arial"/>
                <a:ea typeface="Arial"/>
                <a:cs typeface="Arial"/>
              </a:rPr>
              <a:t> Қолдау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A772653-B261-41D4-870D-69A188632B68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4347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0FBF1385-32BE-45C3-A261-BDA0B64917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EECCAD7-944B-4449-92F9-6BFF7C322211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38150" cy="438150"/>
          </a:xfrm>
          <a:prstGeom prst="rect">
            <a:avLst/>
          </a:prstGeom>
          <a:solidFill>
            <a:srgbClr val="35B8A0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BQ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A132574-1DFE-4A07-A0A5-925FBBA7BDB6}"/>
              </a:ext>
            </a:extLst>
          </p:cNvPr>
          <p:cNvSpPr>
            <a:spLocks noGrp="1"/>
          </p:cNvSpPr>
          <p:nvPr/>
        </p:nvSpPr>
        <p:spPr>
          <a:xfrm>
            <a:off x="1066800" y="2286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BalaQoldau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0019008-14D9-43F8-9731-F5E43BC19D84}"/>
              </a:ext>
            </a:extLst>
          </p:cNvPr>
          <p:cNvSpPr>
            <a:spLocks noGrp="1"/>
          </p:cNvSpPr>
          <p:nvPr/>
        </p:nvSpPr>
        <p:spPr>
          <a:xfrm>
            <a:off x="1066800" y="485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Баланы Қолдау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BDD2331-DFB2-47BB-AAF8-28A1C2346E26}"/>
              </a:ext>
            </a:extLst>
          </p:cNvPr>
          <p:cNvSpPr>
            <a:spLocks noGrp="1"/>
          </p:cNvSpPr>
          <p:nvPr/>
        </p:nvSpPr>
        <p:spPr>
          <a:xfrm>
            <a:off x="9696450" y="266700"/>
            <a:ext cx="1638300" cy="285750"/>
          </a:xfrm>
          <a:prstGeom prst="roundRect">
            <a:avLst>
              <a:gd name="adj" fmla="val 26667"/>
            </a:avLst>
          </a:prstGeom>
          <a:solidFill>
            <a:srgbClr val="DDF4EE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71B987D-7588-4F0D-81D2-49B90A93840E}"/>
              </a:ext>
            </a:extLst>
          </p:cNvPr>
          <p:cNvSpPr>
            <a:spLocks noGrp="1"/>
          </p:cNvSpPr>
          <p:nvPr/>
        </p:nvSpPr>
        <p:spPr>
          <a:xfrm>
            <a:off x="9791700" y="276225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АКТУАЛЬНОСТЬ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B6210C3-F114-4CDE-B579-A66C16C142FB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ПРОБЛЕМА И РЕШЕНИЕ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4159D82-EC2C-44D9-8CD3-72054D21C7B8}"/>
              </a:ext>
            </a:extLst>
          </p:cNvPr>
          <p:cNvSpPr>
            <a:spLocks noGrp="1"/>
          </p:cNvSpPr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35B8A0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0CFDBB8-D161-49C6-82C4-C99BE739FE6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57C"/>
                </a:solidFill>
                <a:latin typeface="Arial"/>
                <a:ea typeface="Arial"/>
                <a:cs typeface="Arial"/>
              </a:rPr>
              <a:t>BalaQoldau · Баланы Қолдау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DCA6932-0524-4A7C-8280-E5EFCC5717B1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D4140C1-1220-46B1-A4B3-778BCB716D9A}"/>
              </a:ext>
            </a:extLst>
          </p:cNvPr>
          <p:cNvSpPr>
            <a:spLocks noGrp="1"/>
          </p:cNvSpPr>
          <p:nvPr/>
        </p:nvSpPr>
        <p:spPr>
          <a:xfrm>
            <a:off x="514350" y="1219200"/>
            <a:ext cx="108108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961" lnSpcReduction="10000"/>
          </a:bodyPr>
          <a:lstStyle/>
          <a:p>
            <a:pPr algn="l">
              <a:lnSpc>
                <a:spcPct val="94000"/>
              </a:lnSpc>
              <a:buNone/>
              <a:defRPr sz="3225"/>
            </a:pPr>
            <a:r>
              <a:rPr sz="3225" b="1" dirty="0" err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Семье</a:t>
            </a:r>
            <a:r>
              <a:rPr sz="3225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3225" b="1" dirty="0" err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нужен</a:t>
            </a:r>
            <a:r>
              <a:rPr sz="3225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3225" b="1" dirty="0" err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маршрут</a:t>
            </a:r>
            <a:r>
              <a:rPr sz="3225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, </a:t>
            </a:r>
            <a:r>
              <a:rPr sz="3225" b="1" dirty="0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а </a:t>
            </a:r>
            <a:r>
              <a:rPr sz="3225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не</a:t>
            </a:r>
            <a:r>
              <a:rPr sz="3225" b="1" dirty="0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3225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набор</a:t>
            </a:r>
            <a:r>
              <a:rPr sz="3225" b="1" dirty="0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
</a:t>
            </a:r>
            <a:r>
              <a:rPr sz="3225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разрозненных</a:t>
            </a:r>
            <a:r>
              <a:rPr sz="3225" b="1" dirty="0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3225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сервисов</a:t>
            </a:r>
            <a:endParaRPr sz="3225" b="1" dirty="0">
              <a:solidFill>
                <a:srgbClr val="35B8A0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CC63577-ABC4-4843-A162-629B0473C0CC}"/>
              </a:ext>
            </a:extLst>
          </p:cNvPr>
          <p:cNvSpPr>
            <a:spLocks noGrp="1"/>
          </p:cNvSpPr>
          <p:nvPr/>
        </p:nvSpPr>
        <p:spPr>
          <a:xfrm>
            <a:off x="514350" y="2419350"/>
            <a:ext cx="538162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7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519CD821-8F37-4029-B904-C44DBFEE1E56}"/>
              </a:ext>
            </a:extLst>
          </p:cNvPr>
          <p:cNvSpPr>
            <a:spLocks noGrp="1"/>
          </p:cNvSpPr>
          <p:nvPr/>
        </p:nvSpPr>
        <p:spPr>
          <a:xfrm>
            <a:off x="704850" y="2628900"/>
            <a:ext cx="514350" cy="514350"/>
          </a:xfrm>
          <a:prstGeom prst="ellipse">
            <a:avLst/>
          </a:prstGeom>
          <a:solidFill>
            <a:srgbClr val="FF8E7A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28ED3ED-A018-4927-830E-27EEFCB97CE9}"/>
              </a:ext>
            </a:extLst>
          </p:cNvPr>
          <p:cNvSpPr>
            <a:spLocks noGrp="1"/>
          </p:cNvSpPr>
          <p:nvPr/>
        </p:nvSpPr>
        <p:spPr>
          <a:xfrm>
            <a:off x="704850" y="2619375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18D70574-C861-4085-AE68-2AB3D5992839}"/>
              </a:ext>
            </a:extLst>
          </p:cNvPr>
          <p:cNvSpPr>
            <a:spLocks noGrp="1"/>
          </p:cNvSpPr>
          <p:nvPr/>
        </p:nvSpPr>
        <p:spPr>
          <a:xfrm>
            <a:off x="1304925" y="2590800"/>
            <a:ext cx="4410075" cy="285750"/>
          </a:xfrm>
          <a:prstGeom prst="roundRect">
            <a:avLst>
              <a:gd name="adj" fmla="val 26667"/>
            </a:avLst>
          </a:prstGeom>
          <a:solidFill>
            <a:srgbClr val="FFE2DC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ECB70F9-1AA2-4C07-8078-3ECD294C8A11}"/>
              </a:ext>
            </a:extLst>
          </p:cNvPr>
          <p:cNvSpPr>
            <a:spLocks noGrp="1"/>
          </p:cNvSpPr>
          <p:nvPr/>
        </p:nvSpPr>
        <p:spPr>
          <a:xfrm>
            <a:off x="1419225" y="2609850"/>
            <a:ext cx="4181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Поиск вслепую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7FFEB20-E7FC-4F00-A283-2CDE4AAC196B}"/>
              </a:ext>
            </a:extLst>
          </p:cNvPr>
          <p:cNvSpPr>
            <a:spLocks noGrp="1"/>
          </p:cNvSpPr>
          <p:nvPr/>
        </p:nvSpPr>
        <p:spPr>
          <a:xfrm>
            <a:off x="1314450" y="2962275"/>
            <a:ext cx="4352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Родителям трудно понять, к какому специалисту обратиться и с чего начать.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CF4EB2B7-AD01-4C54-AA2E-7BCD1A5327FD}"/>
              </a:ext>
            </a:extLst>
          </p:cNvPr>
          <p:cNvSpPr>
            <a:spLocks noGrp="1"/>
          </p:cNvSpPr>
          <p:nvPr/>
        </p:nvSpPr>
        <p:spPr>
          <a:xfrm>
            <a:off x="514350" y="3667125"/>
            <a:ext cx="538162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7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BC067557-AFC7-487A-A3CB-BAF12CD5EE77}"/>
              </a:ext>
            </a:extLst>
          </p:cNvPr>
          <p:cNvSpPr>
            <a:spLocks noGrp="1"/>
          </p:cNvSpPr>
          <p:nvPr/>
        </p:nvSpPr>
        <p:spPr>
          <a:xfrm>
            <a:off x="704850" y="3876675"/>
            <a:ext cx="514350" cy="514350"/>
          </a:xfrm>
          <a:prstGeom prst="ellipse">
            <a:avLst/>
          </a:prstGeom>
          <a:solidFill>
            <a:srgbClr val="69B7F5"/>
          </a:solidFill>
          <a:ln w="0">
            <a:noFill/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15FB231-393A-4F1D-8CC8-FC2B0FB3417E}"/>
              </a:ext>
            </a:extLst>
          </p:cNvPr>
          <p:cNvSpPr>
            <a:spLocks noGrp="1"/>
          </p:cNvSpPr>
          <p:nvPr/>
        </p:nvSpPr>
        <p:spPr>
          <a:xfrm>
            <a:off x="704850" y="38671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1D3335FD-9340-484D-9F3C-9DCBE1CE0CEA}"/>
              </a:ext>
            </a:extLst>
          </p:cNvPr>
          <p:cNvSpPr>
            <a:spLocks noGrp="1"/>
          </p:cNvSpPr>
          <p:nvPr/>
        </p:nvSpPr>
        <p:spPr>
          <a:xfrm>
            <a:off x="1304925" y="3838575"/>
            <a:ext cx="4410075" cy="285750"/>
          </a:xfrm>
          <a:prstGeom prst="roundRect">
            <a:avLst>
              <a:gd name="adj" fmla="val 26667"/>
            </a:avLst>
          </a:prstGeom>
          <a:solidFill>
            <a:srgbClr val="E2F2FF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BB5CCB0-025B-41AA-8C05-8F4406BE467B}"/>
              </a:ext>
            </a:extLst>
          </p:cNvPr>
          <p:cNvSpPr>
            <a:spLocks noGrp="1"/>
          </p:cNvSpPr>
          <p:nvPr/>
        </p:nvSpPr>
        <p:spPr>
          <a:xfrm>
            <a:off x="1419225" y="3857625"/>
            <a:ext cx="4181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Сложные рекомендации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157A1DC-7D59-42A1-A019-8F8A3A9463A4}"/>
              </a:ext>
            </a:extLst>
          </p:cNvPr>
          <p:cNvSpPr>
            <a:spLocks noGrp="1"/>
          </p:cNvSpPr>
          <p:nvPr/>
        </p:nvSpPr>
        <p:spPr>
          <a:xfrm>
            <a:off x="1314450" y="4210050"/>
            <a:ext cx="4352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Профессиональные записи не всегда превращаются в понятные действия дома.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59925BE7-DA4B-432B-B7FC-0EA7A11CF337}"/>
              </a:ext>
            </a:extLst>
          </p:cNvPr>
          <p:cNvSpPr>
            <a:spLocks noGrp="1"/>
          </p:cNvSpPr>
          <p:nvPr/>
        </p:nvSpPr>
        <p:spPr>
          <a:xfrm>
            <a:off x="514350" y="4914900"/>
            <a:ext cx="538162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7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5178A7BE-C40D-468D-84E1-B7E7421E6A97}"/>
              </a:ext>
            </a:extLst>
          </p:cNvPr>
          <p:cNvSpPr>
            <a:spLocks noGrp="1"/>
          </p:cNvSpPr>
          <p:nvPr/>
        </p:nvSpPr>
        <p:spPr>
          <a:xfrm>
            <a:off x="704850" y="5124450"/>
            <a:ext cx="514350" cy="514350"/>
          </a:xfrm>
          <a:prstGeom prst="ellipse">
            <a:avLst/>
          </a:prstGeom>
          <a:solidFill>
            <a:srgbClr val="FFAD5A"/>
          </a:solidFill>
          <a:ln w="0">
            <a:noFill/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24BBD5A-94A6-46A5-956F-546061CE63EF}"/>
              </a:ext>
            </a:extLst>
          </p:cNvPr>
          <p:cNvSpPr>
            <a:spLocks noGrp="1"/>
          </p:cNvSpPr>
          <p:nvPr/>
        </p:nvSpPr>
        <p:spPr>
          <a:xfrm>
            <a:off x="704850" y="5114925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0D623F4E-9C36-4733-A2EF-E04F5957AE35}"/>
              </a:ext>
            </a:extLst>
          </p:cNvPr>
          <p:cNvSpPr>
            <a:spLocks noGrp="1"/>
          </p:cNvSpPr>
          <p:nvPr/>
        </p:nvSpPr>
        <p:spPr>
          <a:xfrm>
            <a:off x="1304925" y="5086350"/>
            <a:ext cx="4410075" cy="285750"/>
          </a:xfrm>
          <a:prstGeom prst="roundRect">
            <a:avLst>
              <a:gd name="adj" fmla="val 26667"/>
            </a:avLst>
          </a:prstGeom>
          <a:solidFill>
            <a:srgbClr val="FFE9A8"/>
          </a:solidFill>
          <a:ln w="0">
            <a:noFill/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765E99C-A44F-41AC-8BAC-59E4CCA8E7F2}"/>
              </a:ext>
            </a:extLst>
          </p:cNvPr>
          <p:cNvSpPr>
            <a:spLocks noGrp="1"/>
          </p:cNvSpPr>
          <p:nvPr/>
        </p:nvSpPr>
        <p:spPr>
          <a:xfrm>
            <a:off x="1419225" y="5105400"/>
            <a:ext cx="4181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Прогресс теряется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82F2867-AE53-45B3-BD21-F8B918E16EA2}"/>
              </a:ext>
            </a:extLst>
          </p:cNvPr>
          <p:cNvSpPr>
            <a:spLocks noGrp="1"/>
          </p:cNvSpPr>
          <p:nvPr/>
        </p:nvSpPr>
        <p:spPr>
          <a:xfrm>
            <a:off x="1314450" y="5457825"/>
            <a:ext cx="4352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Заметки, задания и результаты живут отдельно — динамику трудно увидеть.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38B0D0B5-8A16-4CE7-871D-D58E21B174A7}"/>
              </a:ext>
            </a:extLst>
          </p:cNvPr>
          <p:cNvSpPr>
            <a:spLocks noGrp="1"/>
          </p:cNvSpPr>
          <p:nvPr/>
        </p:nvSpPr>
        <p:spPr>
          <a:xfrm>
            <a:off x="6438900" y="2419350"/>
            <a:ext cx="5238750" cy="3743325"/>
          </a:xfrm>
          <a:prstGeom prst="roundRect">
            <a:avLst>
              <a:gd name="adj" fmla="val 2036"/>
            </a:avLst>
          </a:prstGeom>
          <a:solidFill>
            <a:srgbClr val="DDF4EE"/>
          </a:solidFill>
          <a:ln w="19050">
            <a:solidFill>
              <a:srgbClr val="35B8A0"/>
            </a:solidFill>
            <a:prstDash val="solid"/>
          </a:ln>
        </p:spPr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CD9C6C9E-3FCE-4FAC-A441-940E50FABDB5}"/>
              </a:ext>
            </a:extLst>
          </p:cNvPr>
          <p:cNvSpPr>
            <a:spLocks noGrp="1"/>
          </p:cNvSpPr>
          <p:nvPr/>
        </p:nvSpPr>
        <p:spPr>
          <a:xfrm>
            <a:off x="6705600" y="2628900"/>
            <a:ext cx="2133600" cy="323850"/>
          </a:xfrm>
          <a:prstGeom prst="roundRect">
            <a:avLst>
              <a:gd name="adj" fmla="val 23529"/>
            </a:avLst>
          </a:prstGeom>
          <a:solidFill>
            <a:srgbClr val="35B8A0"/>
          </a:solidFill>
          <a:ln w="0">
            <a:noFill/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00F6734-D9AD-4452-B68A-3C947CA02DA6}"/>
              </a:ext>
            </a:extLst>
          </p:cNvPr>
          <p:cNvSpPr>
            <a:spLocks noGrp="1"/>
          </p:cNvSpPr>
          <p:nvPr/>
        </p:nvSpPr>
        <p:spPr>
          <a:xfrm>
            <a:off x="6800850" y="2638425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 BALАQOLDAU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06231C51-E3C0-437C-8154-F10324831385}"/>
              </a:ext>
            </a:extLst>
          </p:cNvPr>
          <p:cNvSpPr>
            <a:spLocks noGrp="1"/>
          </p:cNvSpPr>
          <p:nvPr/>
        </p:nvSpPr>
        <p:spPr>
          <a:xfrm>
            <a:off x="6705600" y="3124200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40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Один цифровой маршрут</a:t>
            </a:r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B1403843-2DFC-490E-9156-E1A69B61A4C8}"/>
              </a:ext>
            </a:extLst>
          </p:cNvPr>
          <p:cNvSpPr>
            <a:spLocks noGrp="1"/>
          </p:cNvSpPr>
          <p:nvPr/>
        </p:nvSpPr>
        <p:spPr>
          <a:xfrm>
            <a:off x="6705600" y="3790950"/>
            <a:ext cx="323850" cy="323850"/>
          </a:xfrm>
          <a:prstGeom prst="ellipse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B72DAC7-0FFA-48C9-9589-9204CED91B1A}"/>
              </a:ext>
            </a:extLst>
          </p:cNvPr>
          <p:cNvSpPr>
            <a:spLocks noGrp="1"/>
          </p:cNvSpPr>
          <p:nvPr/>
        </p:nvSpPr>
        <p:spPr>
          <a:xfrm>
            <a:off x="6705600" y="37909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E3F93F9D-EA4A-44D0-8639-B997B96C314E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Подбор специалиста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07B1094C-F26E-4B20-AB7F-3296F49BFB24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анкета и каталог</a:t>
            </a: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0118862C-C37A-4B5F-B4F5-D9390BCB4919}"/>
              </a:ext>
            </a:extLst>
          </p:cNvPr>
          <p:cNvSpPr>
            <a:spLocks noGrp="1"/>
          </p:cNvSpPr>
          <p:nvPr/>
        </p:nvSpPr>
        <p:spPr>
          <a:xfrm>
            <a:off x="6705600" y="4314825"/>
            <a:ext cx="323850" cy="323850"/>
          </a:xfrm>
          <a:prstGeom prst="ellipse">
            <a:avLst/>
          </a:prstGeom>
          <a:solidFill>
            <a:srgbClr val="FF8E7A"/>
          </a:solidFill>
          <a:ln w="0">
            <a:noFill/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4C4BAFCD-98DE-4381-9E87-CB8ED427B2C9}"/>
              </a:ext>
            </a:extLst>
          </p:cNvPr>
          <p:cNvSpPr>
            <a:spLocks noGrp="1"/>
          </p:cNvSpPr>
          <p:nvPr/>
        </p:nvSpPr>
        <p:spPr>
          <a:xfrm>
            <a:off x="6705600" y="43148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73C825F1-A3DC-4EBA-AB21-1BD6D29E3252}"/>
              </a:ext>
            </a:extLst>
          </p:cNvPr>
          <p:cNvSpPr>
            <a:spLocks noGrp="1"/>
          </p:cNvSpPr>
          <p:nvPr/>
        </p:nvSpPr>
        <p:spPr>
          <a:xfrm>
            <a:off x="7181850" y="43053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План развития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E1434070-2195-4EC7-9B38-486FA8717093}"/>
              </a:ext>
            </a:extLst>
          </p:cNvPr>
          <p:cNvSpPr>
            <a:spLocks noGrp="1"/>
          </p:cNvSpPr>
          <p:nvPr/>
        </p:nvSpPr>
        <p:spPr>
          <a:xfrm>
            <a:off x="9010650" y="4314825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444"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AI-черновик под контролем специалиста</a:t>
            </a:r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C410CF16-C4C4-44B5-A099-F3802F94D621}"/>
              </a:ext>
            </a:extLst>
          </p:cNvPr>
          <p:cNvSpPr>
            <a:spLocks noGrp="1"/>
          </p:cNvSpPr>
          <p:nvPr/>
        </p:nvSpPr>
        <p:spPr>
          <a:xfrm>
            <a:off x="6705600" y="4838700"/>
            <a:ext cx="323850" cy="323850"/>
          </a:xfrm>
          <a:prstGeom prst="ellipse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B8EDB625-16AA-4447-AC3A-6D09C9FDE3FC}"/>
              </a:ext>
            </a:extLst>
          </p:cNvPr>
          <p:cNvSpPr>
            <a:spLocks noGrp="1"/>
          </p:cNvSpPr>
          <p:nvPr/>
        </p:nvSpPr>
        <p:spPr>
          <a:xfrm>
            <a:off x="6705600" y="48387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3BCCAC43-0140-43C1-A124-B6F7B04BC931}"/>
              </a:ext>
            </a:extLst>
          </p:cNvPr>
          <p:cNvSpPr>
            <a:spLocks noGrp="1"/>
          </p:cNvSpPr>
          <p:nvPr/>
        </p:nvSpPr>
        <p:spPr>
          <a:xfrm>
            <a:off x="7181850" y="48291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Домашняя практика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08463E3C-2573-4F9A-8604-089DF3AB92B0}"/>
              </a:ext>
            </a:extLst>
          </p:cNvPr>
          <p:cNvSpPr>
            <a:spLocks noGrp="1"/>
          </p:cNvSpPr>
          <p:nvPr/>
        </p:nvSpPr>
        <p:spPr>
          <a:xfrm>
            <a:off x="9010650" y="483870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понятные задания для семьи</a:t>
            </a:r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DA36BEFD-A386-48D0-914E-9A828CFB1B33}"/>
              </a:ext>
            </a:extLst>
          </p:cNvPr>
          <p:cNvSpPr>
            <a:spLocks noGrp="1"/>
          </p:cNvSpPr>
          <p:nvPr/>
        </p:nvSpPr>
        <p:spPr>
          <a:xfrm>
            <a:off x="6705600" y="5362575"/>
            <a:ext cx="323850" cy="323850"/>
          </a:xfrm>
          <a:prstGeom prst="ellipse">
            <a:avLst/>
          </a:prstGeom>
          <a:solidFill>
            <a:srgbClr val="FF8E7A"/>
          </a:solidFill>
          <a:ln w="0">
            <a:noFill/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E5D671A2-6C2A-4EE5-B860-9E3BF111D61E}"/>
              </a:ext>
            </a:extLst>
          </p:cNvPr>
          <p:cNvSpPr>
            <a:spLocks noGrp="1"/>
          </p:cNvSpPr>
          <p:nvPr/>
        </p:nvSpPr>
        <p:spPr>
          <a:xfrm>
            <a:off x="6705600" y="53625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5E30A230-8B68-47BE-95C6-CDF20EA6ACDB}"/>
              </a:ext>
            </a:extLst>
          </p:cNvPr>
          <p:cNvSpPr>
            <a:spLocks noGrp="1"/>
          </p:cNvSpPr>
          <p:nvPr/>
        </p:nvSpPr>
        <p:spPr>
          <a:xfrm>
            <a:off x="7181850" y="53530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Динамика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8D529DF1-BC34-4667-9424-3EA9A8D9B7EB}"/>
              </a:ext>
            </a:extLst>
          </p:cNvPr>
          <p:cNvSpPr>
            <a:spLocks noGrp="1"/>
          </p:cNvSpPr>
          <p:nvPr/>
        </p:nvSpPr>
        <p:spPr>
          <a:xfrm>
            <a:off x="9010650" y="5362575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897"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Қадам, Сөйле и отметки прогресса</a:t>
            </a:r>
          </a:p>
        </p:txBody>
      </p:sp>
    </p:spTree>
    <p:extLst>
      <p:ext uri="{BB962C8B-B14F-4D97-AF65-F5344CB8AC3E}">
        <p14:creationId xmlns:p14="http://schemas.microsoft.com/office/powerpoint/2010/main" val="561247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C1D307BB-EC2B-4137-AC41-3749B55B75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F1B7291-4A9F-4D05-B3EF-5AC077664E27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38150" cy="438150"/>
          </a:xfrm>
          <a:prstGeom prst="rect">
            <a:avLst/>
          </a:prstGeom>
          <a:solidFill>
            <a:srgbClr val="35B8A0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BQ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E231093-7676-4470-B925-BD136EF65A2A}"/>
              </a:ext>
            </a:extLst>
          </p:cNvPr>
          <p:cNvSpPr>
            <a:spLocks noGrp="1"/>
          </p:cNvSpPr>
          <p:nvPr/>
        </p:nvSpPr>
        <p:spPr>
          <a:xfrm>
            <a:off x="1066800" y="2286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BalaQoldau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683D3BE-8AF0-4835-947D-57F0656BE940}"/>
              </a:ext>
            </a:extLst>
          </p:cNvPr>
          <p:cNvSpPr>
            <a:spLocks noGrp="1"/>
          </p:cNvSpPr>
          <p:nvPr/>
        </p:nvSpPr>
        <p:spPr>
          <a:xfrm>
            <a:off x="1066800" y="485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Баланы Қолдау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16CF2D3-67D3-42DC-B727-0895632C4BAB}"/>
              </a:ext>
            </a:extLst>
          </p:cNvPr>
          <p:cNvSpPr>
            <a:spLocks noGrp="1"/>
          </p:cNvSpPr>
          <p:nvPr/>
        </p:nvSpPr>
        <p:spPr>
          <a:xfrm>
            <a:off x="9696450" y="266700"/>
            <a:ext cx="1638300" cy="285750"/>
          </a:xfrm>
          <a:prstGeom prst="roundRect">
            <a:avLst>
              <a:gd name="adj" fmla="val 26667"/>
            </a:avLst>
          </a:prstGeom>
          <a:solidFill>
            <a:srgbClr val="DDF4EE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5929DC5-50E7-488A-A976-11943349F2C7}"/>
              </a:ext>
            </a:extLst>
          </p:cNvPr>
          <p:cNvSpPr>
            <a:spLocks noGrp="1"/>
          </p:cNvSpPr>
          <p:nvPr/>
        </p:nvSpPr>
        <p:spPr>
          <a:xfrm>
            <a:off x="9791700" y="276225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ЦЕННОСТЬ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BCF7C7-660A-4DB3-BD2A-D8C4B08E8E57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КАК РАБОТАЕТ ПРОДУКТ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B09CEC0-707F-4B87-A97E-166CA4D3B962}"/>
              </a:ext>
            </a:extLst>
          </p:cNvPr>
          <p:cNvSpPr>
            <a:spLocks noGrp="1"/>
          </p:cNvSpPr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35B8A0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8E3AE8A-6C75-4422-AC91-890C53DBDF4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57C"/>
                </a:solidFill>
                <a:latin typeface="Arial"/>
                <a:ea typeface="Arial"/>
                <a:cs typeface="Arial"/>
              </a:rPr>
              <a:t>BalaQoldau · Баланы Қолдау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53B7718-2AF7-404E-84D8-5D82C61D7602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88CBD3F-1F57-45D7-B6DE-075A946505B3}"/>
              </a:ext>
            </a:extLst>
          </p:cNvPr>
          <p:cNvSpPr>
            <a:spLocks noGrp="1"/>
          </p:cNvSpPr>
          <p:nvPr/>
        </p:nvSpPr>
        <p:spPr>
          <a:xfrm>
            <a:off x="514350" y="12192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150"/>
            </a:pPr>
            <a:r>
              <a:rPr sz="3150" b="1" dirty="0" err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Один</a:t>
            </a:r>
            <a:r>
              <a:rPr sz="3150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3150" b="1" dirty="0" err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цикл</a:t>
            </a:r>
            <a:r>
              <a:rPr sz="3150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3150" b="1" dirty="0" err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связывает</a:t>
            </a:r>
            <a:r>
              <a:rPr sz="3150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3150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специалиста</a:t>
            </a:r>
            <a:r>
              <a:rPr sz="3150" b="1" dirty="0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, AI и </a:t>
            </a:r>
            <a:r>
              <a:rPr sz="3150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родителя</a:t>
            </a:r>
            <a:endParaRPr sz="3150" b="1" dirty="0">
              <a:solidFill>
                <a:srgbClr val="35B8A0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85400D3-E371-430D-822A-E04B11B176E4}"/>
              </a:ext>
            </a:extLst>
          </p:cNvPr>
          <p:cNvSpPr>
            <a:spLocks noGrp="1"/>
          </p:cNvSpPr>
          <p:nvPr/>
        </p:nvSpPr>
        <p:spPr>
          <a:xfrm>
            <a:off x="533400" y="18478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Каждый шаг сохраняет контекст и переводит профессиональные решения в понятные действия семьи.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C6EBEAB-0128-49AC-B676-54CBD8F49DCB}"/>
              </a:ext>
            </a:extLst>
          </p:cNvPr>
          <p:cNvSpPr>
            <a:spLocks noGrp="1"/>
          </p:cNvSpPr>
          <p:nvPr/>
        </p:nvSpPr>
        <p:spPr>
          <a:xfrm>
            <a:off x="514350" y="2381250"/>
            <a:ext cx="1952625" cy="257175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7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59836DA-BADB-4EF5-8500-3A979761B7CF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552450" cy="552450"/>
          </a:xfrm>
          <a:prstGeom prst="ellipse">
            <a:avLst/>
          </a:prstGeom>
          <a:solidFill>
            <a:srgbClr val="FF8E7A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56F82FF-6A4E-475F-BA02-89A41A995B3F}"/>
              </a:ext>
            </a:extLst>
          </p:cNvPr>
          <p:cNvSpPr>
            <a:spLocks noGrp="1"/>
          </p:cNvSpPr>
          <p:nvPr/>
        </p:nvSpPr>
        <p:spPr>
          <a:xfrm>
            <a:off x="742950" y="2124075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C2DE590-C219-4EFC-B98E-CF1B17771BF9}"/>
              </a:ext>
            </a:extLst>
          </p:cNvPr>
          <p:cNvSpPr>
            <a:spLocks noGrp="1"/>
          </p:cNvSpPr>
          <p:nvPr/>
        </p:nvSpPr>
        <p:spPr>
          <a:xfrm>
            <a:off x="723900" y="2876550"/>
            <a:ext cx="1381125" cy="266700"/>
          </a:xfrm>
          <a:prstGeom prst="roundRect">
            <a:avLst>
              <a:gd name="adj" fmla="val 28571"/>
            </a:avLst>
          </a:prstGeom>
          <a:solidFill>
            <a:srgbClr val="FFE2DC"/>
          </a:solidFill>
          <a:ln w="0">
            <a:noFill/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FE23CF8-295F-48A2-B019-42B3D2E79595}"/>
              </a:ext>
            </a:extLst>
          </p:cNvPr>
          <p:cNvSpPr>
            <a:spLocks noGrp="1"/>
          </p:cNvSpPr>
          <p:nvPr/>
        </p:nvSpPr>
        <p:spPr>
          <a:xfrm>
            <a:off x="819150" y="2886075"/>
            <a:ext cx="119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РОДИТЕЛЬ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8B3F7EA-5273-41D7-826E-8AA542B99319}"/>
              </a:ext>
            </a:extLst>
          </p:cNvPr>
          <p:cNvSpPr>
            <a:spLocks noGrp="1"/>
          </p:cNvSpPr>
          <p:nvPr/>
        </p:nvSpPr>
        <p:spPr>
          <a:xfrm>
            <a:off x="723900" y="3295650"/>
            <a:ext cx="1543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4000"/>
              </a:lnSpc>
              <a:buNone/>
              <a:def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Анкета и профиль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1B4F20C-B535-41D0-9D6D-A36F889DED38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543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Реальные ответы сохраняются; язык и шаг не сбрасываются.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55BBF24-D62E-4B0E-9FB7-68DDD463E37B}"/>
              </a:ext>
            </a:extLst>
          </p:cNvPr>
          <p:cNvSpPr>
            <a:spLocks noGrp="1"/>
          </p:cNvSpPr>
          <p:nvPr/>
        </p:nvSpPr>
        <p:spPr>
          <a:xfrm>
            <a:off x="2838450" y="2381250"/>
            <a:ext cx="1952625" cy="257175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7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52DCD073-D10D-493D-98B3-AFE450A2DBE7}"/>
              </a:ext>
            </a:extLst>
          </p:cNvPr>
          <p:cNvSpPr>
            <a:spLocks noGrp="1"/>
          </p:cNvSpPr>
          <p:nvPr/>
        </p:nvSpPr>
        <p:spPr>
          <a:xfrm>
            <a:off x="3067050" y="2114550"/>
            <a:ext cx="552450" cy="552450"/>
          </a:xfrm>
          <a:prstGeom prst="ellipse">
            <a:avLst/>
          </a:prstGeom>
          <a:solidFill>
            <a:srgbClr val="69B7F5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9C55AC5-ED0B-4349-9B98-3A022D7013B9}"/>
              </a:ext>
            </a:extLst>
          </p:cNvPr>
          <p:cNvSpPr>
            <a:spLocks noGrp="1"/>
          </p:cNvSpPr>
          <p:nvPr/>
        </p:nvSpPr>
        <p:spPr>
          <a:xfrm>
            <a:off x="3067050" y="2124075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0FCC8382-CE6B-4C50-B433-FFECE0001DF2}"/>
              </a:ext>
            </a:extLst>
          </p:cNvPr>
          <p:cNvSpPr>
            <a:spLocks noGrp="1"/>
          </p:cNvSpPr>
          <p:nvPr/>
        </p:nvSpPr>
        <p:spPr>
          <a:xfrm>
            <a:off x="3048000" y="2876550"/>
            <a:ext cx="1381125" cy="266700"/>
          </a:xfrm>
          <a:prstGeom prst="roundRect">
            <a:avLst>
              <a:gd name="adj" fmla="val 28571"/>
            </a:avLst>
          </a:prstGeom>
          <a:solidFill>
            <a:srgbClr val="E2F2FF"/>
          </a:solidFill>
          <a:ln w="0">
            <a:noFill/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C39FC2C-D853-40D9-993B-96B07EC747EB}"/>
              </a:ext>
            </a:extLst>
          </p:cNvPr>
          <p:cNvSpPr>
            <a:spLocks noGrp="1"/>
          </p:cNvSpPr>
          <p:nvPr/>
        </p:nvSpPr>
        <p:spPr>
          <a:xfrm>
            <a:off x="3143250" y="2886075"/>
            <a:ext cx="119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ПЛАТФОРМА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6252F1A-C5E3-4B01-B0D4-D6AEA012F6C3}"/>
              </a:ext>
            </a:extLst>
          </p:cNvPr>
          <p:cNvSpPr>
            <a:spLocks noGrp="1"/>
          </p:cNvSpPr>
          <p:nvPr/>
        </p:nvSpPr>
        <p:spPr>
          <a:xfrm>
            <a:off x="3048000" y="3295650"/>
            <a:ext cx="1543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4000"/>
              </a:lnSpc>
              <a:buNone/>
              <a:def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Подбор специалиста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9EBC124-C66C-4A8C-8265-534EF6DBD033}"/>
              </a:ext>
            </a:extLst>
          </p:cNvPr>
          <p:cNvSpPr>
            <a:spLocks noGrp="1"/>
          </p:cNvSpPr>
          <p:nvPr/>
        </p:nvSpPr>
        <p:spPr>
          <a:xfrm>
            <a:off x="3048000" y="3943350"/>
            <a:ext cx="1543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Каталог и фильтры формируют понятный следующий шаг.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00773F6-4A5C-409E-BAE7-C996008C0EF8}"/>
              </a:ext>
            </a:extLst>
          </p:cNvPr>
          <p:cNvSpPr>
            <a:spLocks noGrp="1"/>
          </p:cNvSpPr>
          <p:nvPr/>
        </p:nvSpPr>
        <p:spPr>
          <a:xfrm>
            <a:off x="5162550" y="2381250"/>
            <a:ext cx="1952625" cy="257175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7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F986CE91-D884-4C66-924B-303D0BF9A4BA}"/>
              </a:ext>
            </a:extLst>
          </p:cNvPr>
          <p:cNvSpPr>
            <a:spLocks noGrp="1"/>
          </p:cNvSpPr>
          <p:nvPr/>
        </p:nvSpPr>
        <p:spPr>
          <a:xfrm>
            <a:off x="5391150" y="2114550"/>
            <a:ext cx="552450" cy="552450"/>
          </a:xfrm>
          <a:prstGeom prst="ellipse">
            <a:avLst/>
          </a:prstGeom>
          <a:solidFill>
            <a:srgbClr val="35B8A0"/>
          </a:solidFill>
          <a:ln w="0">
            <a:noFill/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07F4C6B-F2CD-44CD-9803-36FA6534AC64}"/>
              </a:ext>
            </a:extLst>
          </p:cNvPr>
          <p:cNvSpPr>
            <a:spLocks noGrp="1"/>
          </p:cNvSpPr>
          <p:nvPr/>
        </p:nvSpPr>
        <p:spPr>
          <a:xfrm>
            <a:off x="5391150" y="2124075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4BD0B1B9-B0ED-49B1-8D97-71143D74045D}"/>
              </a:ext>
            </a:extLst>
          </p:cNvPr>
          <p:cNvSpPr>
            <a:spLocks noGrp="1"/>
          </p:cNvSpPr>
          <p:nvPr/>
        </p:nvSpPr>
        <p:spPr>
          <a:xfrm>
            <a:off x="5372100" y="2876550"/>
            <a:ext cx="1381125" cy="266700"/>
          </a:xfrm>
          <a:prstGeom prst="roundRect">
            <a:avLst>
              <a:gd name="adj" fmla="val 28571"/>
            </a:avLst>
          </a:prstGeom>
          <a:solidFill>
            <a:srgbClr val="DDF4EE"/>
          </a:solidFill>
          <a:ln w="0">
            <a:noFill/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AAABA0A-35B7-4E6A-BCD6-A658E710BCAB}"/>
              </a:ext>
            </a:extLst>
          </p:cNvPr>
          <p:cNvSpPr>
            <a:spLocks noGrp="1"/>
          </p:cNvSpPr>
          <p:nvPr/>
        </p:nvSpPr>
        <p:spPr>
          <a:xfrm>
            <a:off x="5467350" y="2886075"/>
            <a:ext cx="119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38215E4-417C-4152-9A92-D3B0462B6FCC}"/>
              </a:ext>
            </a:extLst>
          </p:cNvPr>
          <p:cNvSpPr>
            <a:spLocks noGrp="1"/>
          </p:cNvSpPr>
          <p:nvPr/>
        </p:nvSpPr>
        <p:spPr>
          <a:xfrm>
            <a:off x="5372100" y="3295650"/>
            <a:ext cx="1543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4000"/>
              </a:lnSpc>
              <a:buNone/>
              <a:def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Черновик плана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D2A8825-7DE0-4CC8-8C6F-4646395B8AC0}"/>
              </a:ext>
            </a:extLst>
          </p:cNvPr>
          <p:cNvSpPr>
            <a:spLocks noGrp="1"/>
          </p:cNvSpPr>
          <p:nvPr/>
        </p:nvSpPr>
        <p:spPr>
          <a:xfrm>
            <a:off x="5372100" y="3943350"/>
            <a:ext cx="1543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Groq структурирует цели, этапы и домашние задания.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1046E43B-033A-48DF-84DA-93AF4028F129}"/>
              </a:ext>
            </a:extLst>
          </p:cNvPr>
          <p:cNvSpPr>
            <a:spLocks noGrp="1"/>
          </p:cNvSpPr>
          <p:nvPr/>
        </p:nvSpPr>
        <p:spPr>
          <a:xfrm>
            <a:off x="7486650" y="2381250"/>
            <a:ext cx="1952625" cy="257175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7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F8940E76-96A9-4E61-94B6-1C5FAB4AF83B}"/>
              </a:ext>
            </a:extLst>
          </p:cNvPr>
          <p:cNvSpPr>
            <a:spLocks noGrp="1"/>
          </p:cNvSpPr>
          <p:nvPr/>
        </p:nvSpPr>
        <p:spPr>
          <a:xfrm>
            <a:off x="7715250" y="2114550"/>
            <a:ext cx="552450" cy="552450"/>
          </a:xfrm>
          <a:prstGeom prst="ellipse">
            <a:avLst/>
          </a:prstGeom>
          <a:solidFill>
            <a:srgbClr val="FFAD5A"/>
          </a:solidFill>
          <a:ln w="0">
            <a:noFill/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0BE6BA25-EE91-4AB9-9412-15E8BBF9ABCD}"/>
              </a:ext>
            </a:extLst>
          </p:cNvPr>
          <p:cNvSpPr>
            <a:spLocks noGrp="1"/>
          </p:cNvSpPr>
          <p:nvPr/>
        </p:nvSpPr>
        <p:spPr>
          <a:xfrm>
            <a:off x="7715250" y="2124075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21472F89-B4CF-42E1-9184-4905CE9E02C0}"/>
              </a:ext>
            </a:extLst>
          </p:cNvPr>
          <p:cNvSpPr>
            <a:spLocks noGrp="1"/>
          </p:cNvSpPr>
          <p:nvPr/>
        </p:nvSpPr>
        <p:spPr>
          <a:xfrm>
            <a:off x="7696200" y="2876550"/>
            <a:ext cx="1381125" cy="266700"/>
          </a:xfrm>
          <a:prstGeom prst="roundRect">
            <a:avLst>
              <a:gd name="adj" fmla="val 28571"/>
            </a:avLst>
          </a:prstGeom>
          <a:solidFill>
            <a:srgbClr val="FFE9A8"/>
          </a:solidFill>
          <a:ln w="0">
            <a:noFill/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CCCA8830-E72C-46AB-94E7-55C8861C8A33}"/>
              </a:ext>
            </a:extLst>
          </p:cNvPr>
          <p:cNvSpPr>
            <a:spLocks noGrp="1"/>
          </p:cNvSpPr>
          <p:nvPr/>
        </p:nvSpPr>
        <p:spPr>
          <a:xfrm>
            <a:off x="7791450" y="2886075"/>
            <a:ext cx="119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СПЕЦИАЛИСТ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D8DEF4B5-5495-49BB-BE95-EA61964F11E5}"/>
              </a:ext>
            </a:extLst>
          </p:cNvPr>
          <p:cNvSpPr>
            <a:spLocks noGrp="1"/>
          </p:cNvSpPr>
          <p:nvPr/>
        </p:nvSpPr>
        <p:spPr>
          <a:xfrm>
            <a:off x="7696200" y="3295650"/>
            <a:ext cx="1543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4000"/>
              </a:lnSpc>
              <a:buNone/>
              <a:def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Проверка и публикация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0A83091-582B-48CB-BF84-DCCF689EA455}"/>
              </a:ext>
            </a:extLst>
          </p:cNvPr>
          <p:cNvSpPr>
            <a:spLocks noGrp="1"/>
          </p:cNvSpPr>
          <p:nvPr/>
        </p:nvSpPr>
        <p:spPr>
          <a:xfrm>
            <a:off x="7696200" y="3943350"/>
            <a:ext cx="1543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Человек редактирует, подтверждает безопасность и версии.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B54E923D-4C10-4D74-A6AA-B8C646FF588A}"/>
              </a:ext>
            </a:extLst>
          </p:cNvPr>
          <p:cNvSpPr>
            <a:spLocks noGrp="1"/>
          </p:cNvSpPr>
          <p:nvPr/>
        </p:nvSpPr>
        <p:spPr>
          <a:xfrm>
            <a:off x="9810750" y="2381250"/>
            <a:ext cx="1952625" cy="257175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7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61E66592-7583-42C2-9ABD-3C39866F4F33}"/>
              </a:ext>
            </a:extLst>
          </p:cNvPr>
          <p:cNvSpPr>
            <a:spLocks noGrp="1"/>
          </p:cNvSpPr>
          <p:nvPr/>
        </p:nvSpPr>
        <p:spPr>
          <a:xfrm>
            <a:off x="10039350" y="2114550"/>
            <a:ext cx="552450" cy="552450"/>
          </a:xfrm>
          <a:prstGeom prst="ellipse">
            <a:avLst/>
          </a:prstGeom>
          <a:solidFill>
            <a:srgbClr val="A8D98D"/>
          </a:solidFill>
          <a:ln w="0">
            <a:noFill/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729E0432-1B95-44C0-BCC9-62D27995997F}"/>
              </a:ext>
            </a:extLst>
          </p:cNvPr>
          <p:cNvSpPr>
            <a:spLocks noGrp="1"/>
          </p:cNvSpPr>
          <p:nvPr/>
        </p:nvSpPr>
        <p:spPr>
          <a:xfrm>
            <a:off x="10039350" y="2124075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1DA845B0-0637-4BC2-B639-09D639259E2D}"/>
              </a:ext>
            </a:extLst>
          </p:cNvPr>
          <p:cNvSpPr>
            <a:spLocks noGrp="1"/>
          </p:cNvSpPr>
          <p:nvPr/>
        </p:nvSpPr>
        <p:spPr>
          <a:xfrm>
            <a:off x="10020300" y="2876550"/>
            <a:ext cx="1381125" cy="266700"/>
          </a:xfrm>
          <a:prstGeom prst="roundRect">
            <a:avLst>
              <a:gd name="adj" fmla="val 28571"/>
            </a:avLst>
          </a:prstGeom>
          <a:solidFill>
            <a:srgbClr val="E7F4DF"/>
          </a:solidFill>
          <a:ln w="0">
            <a:noFill/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4BA0BBBF-165F-4770-8071-D15AA6DD8175}"/>
              </a:ext>
            </a:extLst>
          </p:cNvPr>
          <p:cNvSpPr>
            <a:spLocks noGrp="1"/>
          </p:cNvSpPr>
          <p:nvPr/>
        </p:nvSpPr>
        <p:spPr>
          <a:xfrm>
            <a:off x="10115550" y="2886075"/>
            <a:ext cx="119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СЕМЬЯ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1ADFD70E-D7A2-4B31-8540-31B8DA3F0F96}"/>
              </a:ext>
            </a:extLst>
          </p:cNvPr>
          <p:cNvSpPr>
            <a:spLocks noGrp="1"/>
          </p:cNvSpPr>
          <p:nvPr/>
        </p:nvSpPr>
        <p:spPr>
          <a:xfrm>
            <a:off x="10020300" y="3295650"/>
            <a:ext cx="1543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4000"/>
              </a:lnSpc>
              <a:buNone/>
              <a:def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Практика и прогресс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F048D584-BDBE-4E72-861B-1E41B6211F5D}"/>
              </a:ext>
            </a:extLst>
          </p:cNvPr>
          <p:cNvSpPr>
            <a:spLocks noGrp="1"/>
          </p:cNvSpPr>
          <p:nvPr/>
        </p:nvSpPr>
        <p:spPr>
          <a:xfrm>
            <a:off x="10020300" y="3943350"/>
            <a:ext cx="1543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128"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Родитель видит только подтверждённый план и отмечает результат.</a:t>
            </a:r>
          </a:p>
        </p:txBody>
      </p:sp>
      <p:sp>
        <p:nvSpPr>
          <p:cNvPr id="48" name="Стрелка: вправо 47">
            <a:extLst>
              <a:ext uri="{FF2B5EF4-FFF2-40B4-BE49-F238E27FC236}">
                <a16:creationId xmlns:a16="http://schemas.microsoft.com/office/drawing/2014/main" id="{48D125A5-2FD0-4743-A3E2-474A6705267E}"/>
              </a:ext>
            </a:extLst>
          </p:cNvPr>
          <p:cNvSpPr>
            <a:spLocks noGrp="1"/>
          </p:cNvSpPr>
          <p:nvPr/>
        </p:nvSpPr>
        <p:spPr>
          <a:xfrm>
            <a:off x="2466975" y="3257550"/>
            <a:ext cx="371475" cy="419100"/>
          </a:xfrm>
          <a:prstGeom prst="rightArrow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49" name="Стрелка: вправо 48">
            <a:extLst>
              <a:ext uri="{FF2B5EF4-FFF2-40B4-BE49-F238E27FC236}">
                <a16:creationId xmlns:a16="http://schemas.microsoft.com/office/drawing/2014/main" id="{3C7C0324-7A85-4523-B127-F4742918DD11}"/>
              </a:ext>
            </a:extLst>
          </p:cNvPr>
          <p:cNvSpPr>
            <a:spLocks noGrp="1"/>
          </p:cNvSpPr>
          <p:nvPr/>
        </p:nvSpPr>
        <p:spPr>
          <a:xfrm>
            <a:off x="4791075" y="3257550"/>
            <a:ext cx="371475" cy="419100"/>
          </a:xfrm>
          <a:prstGeom prst="rightArrow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50" name="Стрелка: вправо 49">
            <a:extLst>
              <a:ext uri="{FF2B5EF4-FFF2-40B4-BE49-F238E27FC236}">
                <a16:creationId xmlns:a16="http://schemas.microsoft.com/office/drawing/2014/main" id="{1B9C0A5E-78C3-4C2D-973A-F5ABA98E814B}"/>
              </a:ext>
            </a:extLst>
          </p:cNvPr>
          <p:cNvSpPr>
            <a:spLocks noGrp="1"/>
          </p:cNvSpPr>
          <p:nvPr/>
        </p:nvSpPr>
        <p:spPr>
          <a:xfrm>
            <a:off x="7115175" y="3257550"/>
            <a:ext cx="371475" cy="419100"/>
          </a:xfrm>
          <a:prstGeom prst="rightArrow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51" name="Стрелка: вправо 50">
            <a:extLst>
              <a:ext uri="{FF2B5EF4-FFF2-40B4-BE49-F238E27FC236}">
                <a16:creationId xmlns:a16="http://schemas.microsoft.com/office/drawing/2014/main" id="{8F6FEA56-6E8D-4758-965D-140ECEF54993}"/>
              </a:ext>
            </a:extLst>
          </p:cNvPr>
          <p:cNvSpPr>
            <a:spLocks noGrp="1"/>
          </p:cNvSpPr>
          <p:nvPr/>
        </p:nvSpPr>
        <p:spPr>
          <a:xfrm>
            <a:off x="9439275" y="3257550"/>
            <a:ext cx="371475" cy="419100"/>
          </a:xfrm>
          <a:prstGeom prst="rightArrow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E9CD7EE6-3B1D-48C4-907D-B258571408A8}"/>
              </a:ext>
            </a:extLst>
          </p:cNvPr>
          <p:cNvSpPr>
            <a:spLocks noGrp="1"/>
          </p:cNvSpPr>
          <p:nvPr/>
        </p:nvSpPr>
        <p:spPr>
          <a:xfrm>
            <a:off x="1562100" y="5219700"/>
            <a:ext cx="9067800" cy="742950"/>
          </a:xfrm>
          <a:prstGeom prst="roundRect">
            <a:avLst>
              <a:gd name="adj" fmla="val 10256"/>
            </a:avLst>
          </a:prstGeom>
          <a:solidFill>
            <a:srgbClr val="263238"/>
          </a:solidFill>
          <a:ln w="0">
            <a:noFill/>
            <a:prstDash val="solid"/>
          </a:ln>
        </p:spPr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C6AFCCA4-3652-4FAD-AB73-72C8215A6E58}"/>
              </a:ext>
            </a:extLst>
          </p:cNvPr>
          <p:cNvSpPr>
            <a:spLocks noGrp="1"/>
          </p:cNvSpPr>
          <p:nvPr/>
        </p:nvSpPr>
        <p:spPr>
          <a:xfrm>
            <a:off x="1847850" y="5391150"/>
            <a:ext cx="849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AI предлагает  →  специалист решает  →  семья понимает и действует</a:t>
            </a:r>
          </a:p>
        </p:txBody>
      </p:sp>
    </p:spTree>
    <p:extLst>
      <p:ext uri="{BB962C8B-B14F-4D97-AF65-F5344CB8AC3E}">
        <p14:creationId xmlns:p14="http://schemas.microsoft.com/office/powerpoint/2010/main" val="1335054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740DE29F-AA3A-4F43-A870-3241E7E0A7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20C03E3-35DE-4BCA-B2BD-65E39469EE81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38150" cy="438150"/>
          </a:xfrm>
          <a:prstGeom prst="rect">
            <a:avLst/>
          </a:prstGeom>
          <a:solidFill>
            <a:srgbClr val="35B8A0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BQ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1288AF4-BAD9-4E21-9E77-CC1EA85B26CE}"/>
              </a:ext>
            </a:extLst>
          </p:cNvPr>
          <p:cNvSpPr>
            <a:spLocks noGrp="1"/>
          </p:cNvSpPr>
          <p:nvPr/>
        </p:nvSpPr>
        <p:spPr>
          <a:xfrm>
            <a:off x="1066800" y="2286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BalaQoldau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E8F78B4-1BDD-4503-BA61-DA9F4EE6164D}"/>
              </a:ext>
            </a:extLst>
          </p:cNvPr>
          <p:cNvSpPr>
            <a:spLocks noGrp="1"/>
          </p:cNvSpPr>
          <p:nvPr/>
        </p:nvSpPr>
        <p:spPr>
          <a:xfrm>
            <a:off x="1066800" y="485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Баланы Қолдау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B5F5FC0-6A78-4F2F-BB08-C2FEAA2A8EF1}"/>
              </a:ext>
            </a:extLst>
          </p:cNvPr>
          <p:cNvSpPr>
            <a:spLocks noGrp="1"/>
          </p:cNvSpPr>
          <p:nvPr/>
        </p:nvSpPr>
        <p:spPr>
          <a:xfrm>
            <a:off x="9696450" y="266700"/>
            <a:ext cx="1638300" cy="285750"/>
          </a:xfrm>
          <a:prstGeom prst="roundRect">
            <a:avLst>
              <a:gd name="adj" fmla="val 26667"/>
            </a:avLst>
          </a:prstGeom>
          <a:solidFill>
            <a:srgbClr val="DDF4EE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0F485F0-FD6A-467D-813D-215BE8CEEAB6}"/>
              </a:ext>
            </a:extLst>
          </p:cNvPr>
          <p:cNvSpPr>
            <a:spLocks noGrp="1"/>
          </p:cNvSpPr>
          <p:nvPr/>
        </p:nvSpPr>
        <p:spPr>
          <a:xfrm>
            <a:off x="9791700" y="276225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ИННОВАЦИИ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0C6A493-3F32-4323-B6A0-A2718C04D30D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ТЕХНОЛОГИЧНОСТЬ AI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94650F0-1F7A-4934-B41C-967204813158}"/>
              </a:ext>
            </a:extLst>
          </p:cNvPr>
          <p:cNvSpPr>
            <a:spLocks noGrp="1"/>
          </p:cNvSpPr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35B8A0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FB2B52D-8E5E-4DDD-9E60-3DCD6011027B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57C"/>
                </a:solidFill>
                <a:latin typeface="Arial"/>
                <a:ea typeface="Arial"/>
                <a:cs typeface="Arial"/>
              </a:rPr>
              <a:t>BalaQoldau · Баланы Қолдау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8E5964E-97AD-43FD-A057-7E95FBE0FC4C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99CD2BB-43AA-4A89-80F0-7F6AE7D2176B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92000"/>
              </a:lnSpc>
              <a:buNone/>
              <a:defRPr sz="3150"/>
            </a:pPr>
            <a:r>
              <a:rPr sz="3150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AI </a:t>
            </a:r>
            <a:r>
              <a:rPr sz="3150" b="1" dirty="0" err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ускоряет</a:t>
            </a:r>
            <a:r>
              <a:rPr sz="3150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3150" b="1" dirty="0" err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работу</a:t>
            </a:r>
            <a:r>
              <a:rPr sz="3150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, </a:t>
            </a:r>
            <a:r>
              <a:rPr sz="3150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но</a:t>
            </a:r>
            <a:r>
              <a:rPr sz="3150" b="1" dirty="0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3150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решение</a:t>
            </a:r>
            <a:r>
              <a:rPr sz="3150" b="1" dirty="0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3150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остаётся</a:t>
            </a:r>
            <a:r>
              <a:rPr sz="3150" b="1" dirty="0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
</a:t>
            </a:r>
            <a:r>
              <a:rPr sz="3150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за</a:t>
            </a:r>
            <a:r>
              <a:rPr sz="3150" b="1" dirty="0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3150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специалистом</a:t>
            </a:r>
            <a:endParaRPr sz="3150" b="1" dirty="0">
              <a:solidFill>
                <a:srgbClr val="35B8A0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45D13F0-B720-4F60-BC2F-F2EBB1760BAA}"/>
              </a:ext>
            </a:extLst>
          </p:cNvPr>
          <p:cNvSpPr>
            <a:spLocks noGrp="1"/>
          </p:cNvSpPr>
          <p:nvPr/>
        </p:nvSpPr>
        <p:spPr>
          <a:xfrm>
            <a:off x="514350" y="2400300"/>
            <a:ext cx="2286000" cy="2609850"/>
          </a:xfrm>
          <a:prstGeom prst="roundRect">
            <a:avLst>
              <a:gd name="adj" fmla="val 3333"/>
            </a:avLst>
          </a:prstGeom>
          <a:solidFill>
            <a:srgbClr val="FFE2DC"/>
          </a:solidFill>
          <a:ln w="19050">
            <a:solidFill>
              <a:srgbClr val="FF8E7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03F2634-E98B-482D-AE28-83ABD523A0E4}"/>
              </a:ext>
            </a:extLst>
          </p:cNvPr>
          <p:cNvSpPr>
            <a:spLocks noGrp="1"/>
          </p:cNvSpPr>
          <p:nvPr/>
        </p:nvSpPr>
        <p:spPr>
          <a:xfrm>
            <a:off x="704850" y="2609850"/>
            <a:ext cx="19050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5740449-8C9A-4086-89D6-ECF6F8CEE1B4}"/>
              </a:ext>
            </a:extLst>
          </p:cNvPr>
          <p:cNvSpPr>
            <a:spLocks noGrp="1"/>
          </p:cNvSpPr>
          <p:nvPr/>
        </p:nvSpPr>
        <p:spPr>
          <a:xfrm>
            <a:off x="800100" y="26193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01 · ВХОД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95A0BC0-F0B8-4F7F-AFFF-B32CA0EFA27A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1866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0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Цели и наблюдения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8B0A6D0-46FA-4719-A55D-042B6A6BDB61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Возрастная группа, сильные стороны, ограничения и направления работы.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E8A9500-25BE-4741-86A4-E90CA18B9CA3}"/>
              </a:ext>
            </a:extLst>
          </p:cNvPr>
          <p:cNvSpPr>
            <a:spLocks noGrp="1"/>
          </p:cNvSpPr>
          <p:nvPr/>
        </p:nvSpPr>
        <p:spPr>
          <a:xfrm>
            <a:off x="3143250" y="2400300"/>
            <a:ext cx="2571750" cy="2609850"/>
          </a:xfrm>
          <a:prstGeom prst="roundRect">
            <a:avLst>
              <a:gd name="adj" fmla="val 2963"/>
            </a:avLst>
          </a:prstGeom>
          <a:solidFill>
            <a:srgbClr val="263238"/>
          </a:solidFill>
          <a:ln w="19050">
            <a:solidFill>
              <a:srgbClr val="26323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C0F2EF83-D443-4B4F-A987-149040894518}"/>
              </a:ext>
            </a:extLst>
          </p:cNvPr>
          <p:cNvSpPr>
            <a:spLocks noGrp="1"/>
          </p:cNvSpPr>
          <p:nvPr/>
        </p:nvSpPr>
        <p:spPr>
          <a:xfrm>
            <a:off x="3333750" y="2609850"/>
            <a:ext cx="2190750" cy="285750"/>
          </a:xfrm>
          <a:prstGeom prst="roundRect">
            <a:avLst>
              <a:gd name="adj" fmla="val 26667"/>
            </a:avLst>
          </a:prstGeom>
          <a:solidFill>
            <a:srgbClr val="35B8A0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45B75AE-7673-41AD-A1C2-8C1FF08E3350}"/>
              </a:ext>
            </a:extLst>
          </p:cNvPr>
          <p:cNvSpPr>
            <a:spLocks noGrp="1"/>
          </p:cNvSpPr>
          <p:nvPr/>
        </p:nvSpPr>
        <p:spPr>
          <a:xfrm>
            <a:off x="3429000" y="26193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· BACKEND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6426D27-BFA4-4175-ABE6-19DAB9482D4F}"/>
              </a:ext>
            </a:extLst>
          </p:cNvPr>
          <p:cNvSpPr>
            <a:spLocks noGrp="1"/>
          </p:cNvSpPr>
          <p:nvPr/>
        </p:nvSpPr>
        <p:spPr>
          <a:xfrm>
            <a:off x="3352800" y="3143250"/>
            <a:ext cx="21526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Безопасный AI-контур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62F8C96-2D68-4BDA-B533-0E9642A148D8}"/>
              </a:ext>
            </a:extLst>
          </p:cNvPr>
          <p:cNvSpPr>
            <a:spLocks noGrp="1"/>
          </p:cNvSpPr>
          <p:nvPr/>
        </p:nvSpPr>
        <p:spPr>
          <a:xfrm>
            <a:off x="3352800" y="3924300"/>
            <a:ext cx="2152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D6E1E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6E1E4"/>
                </a:solidFill>
                <a:latin typeface="Arial"/>
                <a:ea typeface="Arial"/>
                <a:cs typeface="Arial"/>
              </a:rPr>
              <a:t>Ролевая проверка → обезличивание → server-side запрос к Groq API.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199E7BF3-8D46-4982-AE07-23D0B3F19B68}"/>
              </a:ext>
            </a:extLst>
          </p:cNvPr>
          <p:cNvSpPr>
            <a:spLocks noGrp="1"/>
          </p:cNvSpPr>
          <p:nvPr/>
        </p:nvSpPr>
        <p:spPr>
          <a:xfrm>
            <a:off x="6057900" y="2400300"/>
            <a:ext cx="2571750" cy="2609850"/>
          </a:xfrm>
          <a:prstGeom prst="roundRect">
            <a:avLst>
              <a:gd name="adj" fmla="val 2963"/>
            </a:avLst>
          </a:prstGeom>
          <a:solidFill>
            <a:srgbClr val="DDF4EE"/>
          </a:solidFill>
          <a:ln w="19050">
            <a:solidFill>
              <a:srgbClr val="35B8A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2C63F6B0-D43E-4374-ACCC-F6426FCC55B1}"/>
              </a:ext>
            </a:extLst>
          </p:cNvPr>
          <p:cNvSpPr>
            <a:spLocks noGrp="1"/>
          </p:cNvSpPr>
          <p:nvPr/>
        </p:nvSpPr>
        <p:spPr>
          <a:xfrm>
            <a:off x="6248400" y="2609850"/>
            <a:ext cx="219075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7C60B15-06B5-41F1-A9A7-3C4EAE0AD04B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03 · ВАЛИДАЦИЯ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F7E9C54-6001-4CF1-82F8-25C1E6B99D6F}"/>
              </a:ext>
            </a:extLst>
          </p:cNvPr>
          <p:cNvSpPr>
            <a:spLocks noGrp="1"/>
          </p:cNvSpPr>
          <p:nvPr/>
        </p:nvSpPr>
        <p:spPr>
          <a:xfrm>
            <a:off x="6267450" y="3143250"/>
            <a:ext cx="21526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0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Строгий JSON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E8BA86DF-76C1-4D85-B099-48AF52A6D892}"/>
              </a:ext>
            </a:extLst>
          </p:cNvPr>
          <p:cNvSpPr>
            <a:spLocks noGrp="1"/>
          </p:cNvSpPr>
          <p:nvPr/>
        </p:nvSpPr>
        <p:spPr>
          <a:xfrm>
            <a:off x="6267450" y="3924300"/>
            <a:ext cx="2152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Schema validation, safety-фильтр, тревожные сигналы и история генераций.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642B1AB5-54DB-46E0-A761-CB31572437C4}"/>
              </a:ext>
            </a:extLst>
          </p:cNvPr>
          <p:cNvSpPr>
            <a:spLocks noGrp="1"/>
          </p:cNvSpPr>
          <p:nvPr/>
        </p:nvSpPr>
        <p:spPr>
          <a:xfrm>
            <a:off x="8972550" y="2400300"/>
            <a:ext cx="2705100" cy="2609850"/>
          </a:xfrm>
          <a:prstGeom prst="roundRect">
            <a:avLst>
              <a:gd name="adj" fmla="val 2920"/>
            </a:avLst>
          </a:prstGeom>
          <a:solidFill>
            <a:srgbClr val="FFE9A8"/>
          </a:solidFill>
          <a:ln w="19050">
            <a:solidFill>
              <a:srgbClr val="FFAD5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C1F8A00A-E72D-44FE-8DF6-C3580845052D}"/>
              </a:ext>
            </a:extLst>
          </p:cNvPr>
          <p:cNvSpPr>
            <a:spLocks noGrp="1"/>
          </p:cNvSpPr>
          <p:nvPr/>
        </p:nvSpPr>
        <p:spPr>
          <a:xfrm>
            <a:off x="9163050" y="2609850"/>
            <a:ext cx="23241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FFA7A7A-7000-4B04-B26D-08A1BDC2CF8A}"/>
              </a:ext>
            </a:extLst>
          </p:cNvPr>
          <p:cNvSpPr>
            <a:spLocks noGrp="1"/>
          </p:cNvSpPr>
          <p:nvPr/>
        </p:nvSpPr>
        <p:spPr>
          <a:xfrm>
            <a:off x="9258300" y="2619375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04 · КОНТРОЛЬ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1E30076-F125-47E5-95D6-CB8E0FD09E35}"/>
              </a:ext>
            </a:extLst>
          </p:cNvPr>
          <p:cNvSpPr>
            <a:spLocks noGrp="1"/>
          </p:cNvSpPr>
          <p:nvPr/>
        </p:nvSpPr>
        <p:spPr>
          <a:xfrm>
            <a:off x="9182100" y="3143250"/>
            <a:ext cx="2286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0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Черновик, не диагноз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C311BE92-E56D-4504-923D-2206DD2C5FE0}"/>
              </a:ext>
            </a:extLst>
          </p:cNvPr>
          <p:cNvSpPr>
            <a:spLocks noGrp="1"/>
          </p:cNvSpPr>
          <p:nvPr/>
        </p:nvSpPr>
        <p:spPr>
          <a:xfrm>
            <a:off x="9182100" y="3924300"/>
            <a:ext cx="228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Специалист редактирует, подтверждает и только затем публикует родителю.</a:t>
            </a:r>
          </a:p>
        </p:txBody>
      </p:sp>
      <p:sp>
        <p:nvSpPr>
          <p:cNvPr id="32" name="Стрелка: вправо 31">
            <a:extLst>
              <a:ext uri="{FF2B5EF4-FFF2-40B4-BE49-F238E27FC236}">
                <a16:creationId xmlns:a16="http://schemas.microsoft.com/office/drawing/2014/main" id="{2B9C8250-8C16-42E1-8037-35B09B25EC66}"/>
              </a:ext>
            </a:extLst>
          </p:cNvPr>
          <p:cNvSpPr>
            <a:spLocks noGrp="1"/>
          </p:cNvSpPr>
          <p:nvPr/>
        </p:nvSpPr>
        <p:spPr>
          <a:xfrm>
            <a:off x="2800350" y="3333750"/>
            <a:ext cx="342900" cy="381000"/>
          </a:xfrm>
          <a:prstGeom prst="rightArrow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33" name="Стрелка: вправо 32">
            <a:extLst>
              <a:ext uri="{FF2B5EF4-FFF2-40B4-BE49-F238E27FC236}">
                <a16:creationId xmlns:a16="http://schemas.microsoft.com/office/drawing/2014/main" id="{E076F30B-F6F0-4186-9C55-7245A7FE1CA9}"/>
              </a:ext>
            </a:extLst>
          </p:cNvPr>
          <p:cNvSpPr>
            <a:spLocks noGrp="1"/>
          </p:cNvSpPr>
          <p:nvPr/>
        </p:nvSpPr>
        <p:spPr>
          <a:xfrm>
            <a:off x="5715000" y="3333750"/>
            <a:ext cx="342900" cy="381000"/>
          </a:xfrm>
          <a:prstGeom prst="rightArrow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34" name="Стрелка: вправо 33">
            <a:extLst>
              <a:ext uri="{FF2B5EF4-FFF2-40B4-BE49-F238E27FC236}">
                <a16:creationId xmlns:a16="http://schemas.microsoft.com/office/drawing/2014/main" id="{E028DBCA-C3AB-4E5E-9292-FBCE16F6DC4E}"/>
              </a:ext>
            </a:extLst>
          </p:cNvPr>
          <p:cNvSpPr>
            <a:spLocks noGrp="1"/>
          </p:cNvSpPr>
          <p:nvPr/>
        </p:nvSpPr>
        <p:spPr>
          <a:xfrm>
            <a:off x="8629650" y="3333750"/>
            <a:ext cx="342900" cy="381000"/>
          </a:xfrm>
          <a:prstGeom prst="rightArrow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755594CF-B27C-4A64-9081-05990D208006}"/>
              </a:ext>
            </a:extLst>
          </p:cNvPr>
          <p:cNvSpPr>
            <a:spLocks noGrp="1"/>
          </p:cNvSpPr>
          <p:nvPr/>
        </p:nvSpPr>
        <p:spPr>
          <a:xfrm>
            <a:off x="876300" y="5391150"/>
            <a:ext cx="2628900" cy="400050"/>
          </a:xfrm>
          <a:prstGeom prst="roundRect">
            <a:avLst>
              <a:gd name="adj" fmla="val 19048"/>
            </a:avLst>
          </a:prstGeom>
          <a:solidFill>
            <a:srgbClr val="35B8A0"/>
          </a:solidFill>
          <a:ln w="0">
            <a:noFill/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DA2E610-1B6F-4F3C-B127-540DEB5505A7}"/>
              </a:ext>
            </a:extLst>
          </p:cNvPr>
          <p:cNvSpPr>
            <a:spLocks noGrp="1"/>
          </p:cNvSpPr>
          <p:nvPr/>
        </p:nvSpPr>
        <p:spPr>
          <a:xfrm>
            <a:off x="971550" y="5400675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КЛЮЧ ТОЛЬКО НА BACKEND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228492F3-B88E-402E-8E4B-1113E1B3BA80}"/>
              </a:ext>
            </a:extLst>
          </p:cNvPr>
          <p:cNvSpPr>
            <a:spLocks noGrp="1"/>
          </p:cNvSpPr>
          <p:nvPr/>
        </p:nvSpPr>
        <p:spPr>
          <a:xfrm>
            <a:off x="3705225" y="5391150"/>
            <a:ext cx="2990850" cy="400050"/>
          </a:xfrm>
          <a:prstGeom prst="roundRect">
            <a:avLst>
              <a:gd name="adj" fmla="val 19048"/>
            </a:avLst>
          </a:prstGeom>
          <a:solidFill>
            <a:srgbClr val="E2F2FF"/>
          </a:solidFill>
          <a:ln w="0">
            <a:noFill/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DDEDD678-E830-46F6-A3F7-986536655980}"/>
              </a:ext>
            </a:extLst>
          </p:cNvPr>
          <p:cNvSpPr>
            <a:spLocks noGrp="1"/>
          </p:cNvSpPr>
          <p:nvPr/>
        </p:nvSpPr>
        <p:spPr>
          <a:xfrm>
            <a:off x="3800475" y="5400675"/>
            <a:ext cx="2800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RU / KK ДИНАМИЧЕСКИЙ КОНТЕНТ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412388C5-DB98-4139-BE50-F891334006DA}"/>
              </a:ext>
            </a:extLst>
          </p:cNvPr>
          <p:cNvSpPr>
            <a:spLocks noGrp="1"/>
          </p:cNvSpPr>
          <p:nvPr/>
        </p:nvSpPr>
        <p:spPr>
          <a:xfrm>
            <a:off x="6896100" y="5391150"/>
            <a:ext cx="3105150" cy="400050"/>
          </a:xfrm>
          <a:prstGeom prst="roundRect">
            <a:avLst>
              <a:gd name="adj" fmla="val 19048"/>
            </a:avLst>
          </a:prstGeom>
          <a:solidFill>
            <a:srgbClr val="FFE2DC"/>
          </a:solidFill>
          <a:ln w="0">
            <a:noFill/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71EF92BD-BDB6-44C9-B6AB-E217AEE5D766}"/>
              </a:ext>
            </a:extLst>
          </p:cNvPr>
          <p:cNvSpPr>
            <a:spLocks noGrp="1"/>
          </p:cNvSpPr>
          <p:nvPr/>
        </p:nvSpPr>
        <p:spPr>
          <a:xfrm>
            <a:off x="6991350" y="5400675"/>
            <a:ext cx="2914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БЕЗ ДИАГНОЗОВ И НАЗНАЧЕНИЙ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17D0ECD6-E8DA-486E-B0C1-06666F7B7B06}"/>
              </a:ext>
            </a:extLst>
          </p:cNvPr>
          <p:cNvSpPr>
            <a:spLocks noGrp="1"/>
          </p:cNvSpPr>
          <p:nvPr/>
        </p:nvSpPr>
        <p:spPr>
          <a:xfrm>
            <a:off x="10201275" y="5391150"/>
            <a:ext cx="1476375" cy="400050"/>
          </a:xfrm>
          <a:prstGeom prst="roundRect">
            <a:avLst>
              <a:gd name="adj" fmla="val 19048"/>
            </a:avLst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60EBB144-4FFD-4825-B388-65A10960BBE1}"/>
              </a:ext>
            </a:extLst>
          </p:cNvPr>
          <p:cNvSpPr>
            <a:spLocks noGrp="1"/>
          </p:cNvSpPr>
          <p:nvPr/>
        </p:nvSpPr>
        <p:spPr>
          <a:xfrm>
            <a:off x="10296525" y="5400675"/>
            <a:ext cx="128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ВЕРСИИ</a:t>
            </a:r>
          </a:p>
        </p:txBody>
      </p:sp>
    </p:spTree>
    <p:extLst>
      <p:ext uri="{BB962C8B-B14F-4D97-AF65-F5344CB8AC3E}">
        <p14:creationId xmlns:p14="http://schemas.microsoft.com/office/powerpoint/2010/main" val="469687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10803E8A-E4A4-4C66-90A7-BC534B22CF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258442A-0660-4EF4-A100-4188A5E6BAEE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38150" cy="438150"/>
          </a:xfrm>
          <a:prstGeom prst="rect">
            <a:avLst/>
          </a:prstGeom>
          <a:solidFill>
            <a:srgbClr val="35B8A0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BQ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6414C62-78A1-4C8C-BC65-FFFE46B61B91}"/>
              </a:ext>
            </a:extLst>
          </p:cNvPr>
          <p:cNvSpPr>
            <a:spLocks noGrp="1"/>
          </p:cNvSpPr>
          <p:nvPr/>
        </p:nvSpPr>
        <p:spPr>
          <a:xfrm>
            <a:off x="1066800" y="2286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BalaQoldau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5392FF0-CA6F-4214-967B-1ADA226311A2}"/>
              </a:ext>
            </a:extLst>
          </p:cNvPr>
          <p:cNvSpPr>
            <a:spLocks noGrp="1"/>
          </p:cNvSpPr>
          <p:nvPr/>
        </p:nvSpPr>
        <p:spPr>
          <a:xfrm>
            <a:off x="1066800" y="485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Баланы Қолдау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FADF2D4-4871-4FD4-AF9B-0A66540D5B49}"/>
              </a:ext>
            </a:extLst>
          </p:cNvPr>
          <p:cNvSpPr>
            <a:spLocks noGrp="1"/>
          </p:cNvSpPr>
          <p:nvPr/>
        </p:nvSpPr>
        <p:spPr>
          <a:xfrm>
            <a:off x="9696450" y="266700"/>
            <a:ext cx="1638300" cy="285750"/>
          </a:xfrm>
          <a:prstGeom prst="roundRect">
            <a:avLst>
              <a:gd name="adj" fmla="val 26667"/>
            </a:avLst>
          </a:prstGeom>
          <a:solidFill>
            <a:srgbClr val="DDF4EE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7E317A1-6E98-4CA0-BC06-853121812308}"/>
              </a:ext>
            </a:extLst>
          </p:cNvPr>
          <p:cNvSpPr>
            <a:spLocks noGrp="1"/>
          </p:cNvSpPr>
          <p:nvPr/>
        </p:nvSpPr>
        <p:spPr>
          <a:xfrm>
            <a:off x="9791700" y="276225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ИМПАКТ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45A01FB-5175-4B43-9D93-EC719D97FFB1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ПРАКТИЧНОСТЬ И МАСШТАБ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1D4DAA5-21CA-44E1-9DEA-1824DE0E123C}"/>
              </a:ext>
            </a:extLst>
          </p:cNvPr>
          <p:cNvSpPr>
            <a:spLocks noGrp="1"/>
          </p:cNvSpPr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35B8A0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2855D0D-563C-4FE7-85AB-CF7164C06AAA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57C"/>
                </a:solidFill>
                <a:latin typeface="Arial"/>
                <a:ea typeface="Arial"/>
                <a:cs typeface="Arial"/>
              </a:rPr>
              <a:t>BalaQoldau · Баланы Қолдау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499127B-D2F3-49BB-B0BB-61C9E1579AEB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77E6A0F-8B72-40A8-8D18-C6B245B21598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92000"/>
              </a:lnSpc>
              <a:buNone/>
              <a:defRPr sz="3150"/>
            </a:pPr>
            <a:r>
              <a:rPr sz="3150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MVP </a:t>
            </a:r>
            <a:r>
              <a:rPr sz="3150" b="1" dirty="0" err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готов</a:t>
            </a:r>
            <a:r>
              <a:rPr sz="3150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 к </a:t>
            </a:r>
            <a:r>
              <a:rPr sz="3150" b="1" dirty="0" err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пилоту</a:t>
            </a:r>
            <a:r>
              <a:rPr sz="3150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 — </a:t>
            </a:r>
            <a:r>
              <a:rPr sz="3150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масштабируется</a:t>
            </a:r>
            <a:r>
              <a:rPr sz="3150" b="1" dirty="0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
</a:t>
            </a:r>
            <a:r>
              <a:rPr sz="3150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по</a:t>
            </a:r>
            <a:r>
              <a:rPr sz="3150" b="1" dirty="0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3150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регионам</a:t>
            </a:r>
            <a:r>
              <a:rPr sz="3150" b="1" dirty="0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3150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Казахстана</a:t>
            </a:r>
            <a:endParaRPr sz="3150" b="1" dirty="0">
              <a:solidFill>
                <a:srgbClr val="35B8A0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3F28F34-2544-42C9-B373-057E3DBD5438}"/>
              </a:ext>
            </a:extLst>
          </p:cNvPr>
          <p:cNvSpPr>
            <a:spLocks noGrp="1"/>
          </p:cNvSpPr>
          <p:nvPr/>
        </p:nvSpPr>
        <p:spPr>
          <a:xfrm>
            <a:off x="514350" y="2381250"/>
            <a:ext cx="235267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7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86CDCB6D-82EA-4D9B-97F9-56F7E07805E6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647700" cy="647700"/>
          </a:xfrm>
          <a:prstGeom prst="ellipse">
            <a:avLst/>
          </a:prstGeom>
          <a:solidFill>
            <a:srgbClr val="35B8A0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CFA9533-0D9B-49B0-BDFF-E961EB8EF986}"/>
              </a:ext>
            </a:extLst>
          </p:cNvPr>
          <p:cNvSpPr>
            <a:spLocks noGrp="1"/>
          </p:cNvSpPr>
          <p:nvPr/>
        </p:nvSpPr>
        <p:spPr>
          <a:xfrm>
            <a:off x="685800" y="2581275"/>
            <a:ext cx="647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FD212E8-8FC6-4E73-9956-E85A2221061B}"/>
              </a:ext>
            </a:extLst>
          </p:cNvPr>
          <p:cNvSpPr>
            <a:spLocks noGrp="1"/>
          </p:cNvSpPr>
          <p:nvPr/>
        </p:nvSpPr>
        <p:spPr>
          <a:xfrm>
            <a:off x="1476375" y="2571750"/>
            <a:ext cx="1200150" cy="266700"/>
          </a:xfrm>
          <a:prstGeom prst="roundRect">
            <a:avLst>
              <a:gd name="adj" fmla="val 28571"/>
            </a:avLst>
          </a:prstGeom>
          <a:solidFill>
            <a:srgbClr val="DDF4EE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8707EAF-5BF6-4483-B3A1-1C759E8B73E9}"/>
              </a:ext>
            </a:extLst>
          </p:cNvPr>
          <p:cNvSpPr>
            <a:spLocks noGrp="1"/>
          </p:cNvSpPr>
          <p:nvPr/>
        </p:nvSpPr>
        <p:spPr>
          <a:xfrm>
            <a:off x="1571625" y="2581275"/>
            <a:ext cx="1009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ЯЗЫКА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4A86311-845B-4497-843E-560D459E185C}"/>
              </a:ext>
            </a:extLst>
          </p:cNvPr>
          <p:cNvSpPr>
            <a:spLocks noGrp="1"/>
          </p:cNvSpPr>
          <p:nvPr/>
        </p:nvSpPr>
        <p:spPr>
          <a:xfrm>
            <a:off x="1476374" y="2914650"/>
            <a:ext cx="14192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lang="ru-RU" sz="1200" dirty="0">
                <a:solidFill>
                  <a:srgbClr val="64757C"/>
                </a:solidFill>
                <a:latin typeface="Arial"/>
                <a:ea typeface="Arial"/>
                <a:cs typeface="Arial"/>
              </a:rPr>
              <a:t>русский</a:t>
            </a:r>
            <a:r>
              <a:rPr sz="1200" b="0" dirty="0">
                <a:solidFill>
                  <a:srgbClr val="64757C"/>
                </a:solidFill>
                <a:latin typeface="Arial"/>
                <a:ea typeface="Arial"/>
                <a:cs typeface="Arial"/>
              </a:rPr>
              <a:t> + </a:t>
            </a:r>
            <a:r>
              <a:rPr sz="1200" b="0" dirty="0" err="1">
                <a:solidFill>
                  <a:srgbClr val="64757C"/>
                </a:solidFill>
                <a:latin typeface="Arial"/>
                <a:ea typeface="Arial"/>
                <a:cs typeface="Arial"/>
              </a:rPr>
              <a:t>қазақша</a:t>
            </a:r>
            <a:endParaRPr sz="1200" b="0" dirty="0">
              <a:solidFill>
                <a:srgbClr val="64757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43D3A07-13F3-4985-B9ED-13159C2236EC}"/>
              </a:ext>
            </a:extLst>
          </p:cNvPr>
          <p:cNvSpPr>
            <a:spLocks noGrp="1"/>
          </p:cNvSpPr>
          <p:nvPr/>
        </p:nvSpPr>
        <p:spPr>
          <a:xfrm>
            <a:off x="3038475" y="2381250"/>
            <a:ext cx="235267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7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C8C9B863-C95C-42E7-99DA-36CDAE2B95F1}"/>
              </a:ext>
            </a:extLst>
          </p:cNvPr>
          <p:cNvSpPr>
            <a:spLocks noGrp="1"/>
          </p:cNvSpPr>
          <p:nvPr/>
        </p:nvSpPr>
        <p:spPr>
          <a:xfrm>
            <a:off x="3209925" y="2590800"/>
            <a:ext cx="647700" cy="647700"/>
          </a:xfrm>
          <a:prstGeom prst="ellipse">
            <a:avLst/>
          </a:prstGeom>
          <a:solidFill>
            <a:srgbClr val="FF8E7A"/>
          </a:solidFill>
          <a:ln w="0">
            <a:noFill/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58546FD-3078-4BCE-89E4-E3AB5B5DC726}"/>
              </a:ext>
            </a:extLst>
          </p:cNvPr>
          <p:cNvSpPr>
            <a:spLocks noGrp="1"/>
          </p:cNvSpPr>
          <p:nvPr/>
        </p:nvSpPr>
        <p:spPr>
          <a:xfrm>
            <a:off x="3209925" y="2581275"/>
            <a:ext cx="647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C4A28DB5-BDEA-4C1E-BEE9-0F25FCC1195C}"/>
              </a:ext>
            </a:extLst>
          </p:cNvPr>
          <p:cNvSpPr>
            <a:spLocks noGrp="1"/>
          </p:cNvSpPr>
          <p:nvPr/>
        </p:nvSpPr>
        <p:spPr>
          <a:xfrm>
            <a:off x="4000500" y="2571750"/>
            <a:ext cx="1200150" cy="266700"/>
          </a:xfrm>
          <a:prstGeom prst="roundRect">
            <a:avLst>
              <a:gd name="adj" fmla="val 28571"/>
            </a:avLst>
          </a:prstGeom>
          <a:solidFill>
            <a:srgbClr val="FFE2DC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27DBE3E-B771-42BC-A63F-B0994A4F8718}"/>
              </a:ext>
            </a:extLst>
          </p:cNvPr>
          <p:cNvSpPr>
            <a:spLocks noGrp="1"/>
          </p:cNvSpPr>
          <p:nvPr/>
        </p:nvSpPr>
        <p:spPr>
          <a:xfrm>
            <a:off x="4095750" y="2581275"/>
            <a:ext cx="1009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РОЛИ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DA88F59-6047-4A9D-B113-969683D64D42}"/>
              </a:ext>
            </a:extLst>
          </p:cNvPr>
          <p:cNvSpPr>
            <a:spLocks noGrp="1"/>
          </p:cNvSpPr>
          <p:nvPr/>
        </p:nvSpPr>
        <p:spPr>
          <a:xfrm>
            <a:off x="4000500" y="2914650"/>
            <a:ext cx="1200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родитель · специалист · центр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C1408C6D-CB9F-416A-AFC7-5083CDD61C8C}"/>
              </a:ext>
            </a:extLst>
          </p:cNvPr>
          <p:cNvSpPr>
            <a:spLocks noGrp="1"/>
          </p:cNvSpPr>
          <p:nvPr/>
        </p:nvSpPr>
        <p:spPr>
          <a:xfrm>
            <a:off x="514350" y="3771900"/>
            <a:ext cx="235267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7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80DC7473-4175-47D5-9172-334FD0418BED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647700" cy="647700"/>
          </a:xfrm>
          <a:prstGeom prst="ellipse">
            <a:avLst/>
          </a:prstGeom>
          <a:solidFill>
            <a:srgbClr val="69B7F5"/>
          </a:solidFill>
          <a:ln w="0">
            <a:noFill/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634AE60-43C2-4FA9-87C6-4F5F023BF0F7}"/>
              </a:ext>
            </a:extLst>
          </p:cNvPr>
          <p:cNvSpPr>
            <a:spLocks noGrp="1"/>
          </p:cNvSpPr>
          <p:nvPr/>
        </p:nvSpPr>
        <p:spPr>
          <a:xfrm>
            <a:off x="685800" y="3971925"/>
            <a:ext cx="647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6+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0577B062-E183-4BB9-A2D4-B5757A2BA631}"/>
              </a:ext>
            </a:extLst>
          </p:cNvPr>
          <p:cNvSpPr>
            <a:spLocks noGrp="1"/>
          </p:cNvSpPr>
          <p:nvPr/>
        </p:nvSpPr>
        <p:spPr>
          <a:xfrm>
            <a:off x="1476375" y="3962400"/>
            <a:ext cx="1200150" cy="266700"/>
          </a:xfrm>
          <a:prstGeom prst="roundRect">
            <a:avLst>
              <a:gd name="adj" fmla="val 28571"/>
            </a:avLst>
          </a:prstGeom>
          <a:solidFill>
            <a:srgbClr val="E2F2FF"/>
          </a:solidFill>
          <a:ln w="0">
            <a:noFill/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E208C89-EFC4-4764-9948-69CFA4FDAEB0}"/>
              </a:ext>
            </a:extLst>
          </p:cNvPr>
          <p:cNvSpPr>
            <a:spLocks noGrp="1"/>
          </p:cNvSpPr>
          <p:nvPr/>
        </p:nvSpPr>
        <p:spPr>
          <a:xfrm>
            <a:off x="1571625" y="3971925"/>
            <a:ext cx="1009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МОДУЛЕЙ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AA1AA59-9DBC-4DCE-A613-C08C132E25BC}"/>
              </a:ext>
            </a:extLst>
          </p:cNvPr>
          <p:cNvSpPr>
            <a:spLocks noGrp="1"/>
          </p:cNvSpPr>
          <p:nvPr/>
        </p:nvSpPr>
        <p:spPr>
          <a:xfrm>
            <a:off x="1476375" y="4305300"/>
            <a:ext cx="1200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16"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поиск · планы · дневник · прогресс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AD675E08-7271-4E7E-9A64-5FAF43661AE2}"/>
              </a:ext>
            </a:extLst>
          </p:cNvPr>
          <p:cNvSpPr>
            <a:spLocks noGrp="1"/>
          </p:cNvSpPr>
          <p:nvPr/>
        </p:nvSpPr>
        <p:spPr>
          <a:xfrm>
            <a:off x="3038475" y="3771900"/>
            <a:ext cx="235267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7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DB30E7FD-787E-4C9D-B291-C7055DF66326}"/>
              </a:ext>
            </a:extLst>
          </p:cNvPr>
          <p:cNvSpPr>
            <a:spLocks noGrp="1"/>
          </p:cNvSpPr>
          <p:nvPr/>
        </p:nvSpPr>
        <p:spPr>
          <a:xfrm>
            <a:off x="3209925" y="3981450"/>
            <a:ext cx="647700" cy="647700"/>
          </a:xfrm>
          <a:prstGeom prst="ellipse">
            <a:avLst/>
          </a:prstGeom>
          <a:solidFill>
            <a:srgbClr val="FFAD5A"/>
          </a:solidFill>
          <a:ln w="0">
            <a:noFill/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632FB3F-1CBC-4F7E-8D5E-92A7F17F1300}"/>
              </a:ext>
            </a:extLst>
          </p:cNvPr>
          <p:cNvSpPr>
            <a:spLocks noGrp="1"/>
          </p:cNvSpPr>
          <p:nvPr/>
        </p:nvSpPr>
        <p:spPr>
          <a:xfrm>
            <a:off x="3209925" y="3971925"/>
            <a:ext cx="647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8964AF8F-D5E3-491B-A92C-055709A23FB2}"/>
              </a:ext>
            </a:extLst>
          </p:cNvPr>
          <p:cNvSpPr>
            <a:spLocks noGrp="1"/>
          </p:cNvSpPr>
          <p:nvPr/>
        </p:nvSpPr>
        <p:spPr>
          <a:xfrm>
            <a:off x="4000500" y="3962400"/>
            <a:ext cx="1200150" cy="266700"/>
          </a:xfrm>
          <a:prstGeom prst="roundRect">
            <a:avLst>
              <a:gd name="adj" fmla="val 28571"/>
            </a:avLst>
          </a:prstGeom>
          <a:solidFill>
            <a:srgbClr val="FFE9A8"/>
          </a:solidFill>
          <a:ln w="0">
            <a:noFill/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A5896084-6736-4F28-B862-32C4006C4308}"/>
              </a:ext>
            </a:extLst>
          </p:cNvPr>
          <p:cNvSpPr>
            <a:spLocks noGrp="1"/>
          </p:cNvSpPr>
          <p:nvPr/>
        </p:nvSpPr>
        <p:spPr>
          <a:xfrm>
            <a:off x="4095750" y="3971925"/>
            <a:ext cx="1009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AI-КОНТУР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AA9496C3-F544-48DD-9B67-FF995807AF4B}"/>
              </a:ext>
            </a:extLst>
          </p:cNvPr>
          <p:cNvSpPr>
            <a:spLocks noGrp="1"/>
          </p:cNvSpPr>
          <p:nvPr/>
        </p:nvSpPr>
        <p:spPr>
          <a:xfrm>
            <a:off x="4000500" y="4305300"/>
            <a:ext cx="1200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Groq только через защищённый backend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7D7FEC50-55A9-41B6-BD6D-651D9BA8A993}"/>
              </a:ext>
            </a:extLst>
          </p:cNvPr>
          <p:cNvSpPr>
            <a:spLocks noGrp="1"/>
          </p:cNvSpPr>
          <p:nvPr/>
        </p:nvSpPr>
        <p:spPr>
          <a:xfrm>
            <a:off x="5791200" y="2381250"/>
            <a:ext cx="5886450" cy="260985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9525">
            <a:solidFill>
              <a:srgbClr val="E7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636C528-DE50-4DF4-B449-9F6FA1BA4F4F}"/>
              </a:ext>
            </a:extLst>
          </p:cNvPr>
          <p:cNvSpPr>
            <a:spLocks noGrp="1"/>
          </p:cNvSpPr>
          <p:nvPr/>
        </p:nvSpPr>
        <p:spPr>
          <a:xfrm>
            <a:off x="6076950" y="26098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План внедрения</a:t>
            </a: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CB6C3D80-ABFB-4FC0-BC3E-70915BBDF271}"/>
              </a:ext>
            </a:extLst>
          </p:cNvPr>
          <p:cNvSpPr>
            <a:spLocks noGrp="1"/>
          </p:cNvSpPr>
          <p:nvPr/>
        </p:nvSpPr>
        <p:spPr>
          <a:xfrm>
            <a:off x="6076950" y="3181350"/>
            <a:ext cx="495300" cy="495300"/>
          </a:xfrm>
          <a:prstGeom prst="ellipse">
            <a:avLst/>
          </a:prstGeom>
          <a:solidFill>
            <a:srgbClr val="FF8E7A"/>
          </a:solidFill>
          <a:ln w="0">
            <a:noFill/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1DB841D1-A90B-413F-B625-33DE3EF6CA7A}"/>
              </a:ext>
            </a:extLst>
          </p:cNvPr>
          <p:cNvSpPr>
            <a:spLocks noGrp="1"/>
          </p:cNvSpPr>
          <p:nvPr/>
        </p:nvSpPr>
        <p:spPr>
          <a:xfrm>
            <a:off x="6076950" y="318135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40" name="Стрелка: вправо 39">
            <a:extLst>
              <a:ext uri="{FF2B5EF4-FFF2-40B4-BE49-F238E27FC236}">
                <a16:creationId xmlns:a16="http://schemas.microsoft.com/office/drawing/2014/main" id="{ED3E1FCB-683B-4FB4-B75A-828888BC2547}"/>
              </a:ext>
            </a:extLst>
          </p:cNvPr>
          <p:cNvSpPr>
            <a:spLocks noGrp="1"/>
          </p:cNvSpPr>
          <p:nvPr/>
        </p:nvSpPr>
        <p:spPr>
          <a:xfrm>
            <a:off x="6629400" y="3295650"/>
            <a:ext cx="1028700" cy="266700"/>
          </a:xfrm>
          <a:prstGeom prst="rightArrow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90845A16-436F-4D68-AEC0-BB97E774A7A5}"/>
              </a:ext>
            </a:extLst>
          </p:cNvPr>
          <p:cNvSpPr>
            <a:spLocks noGrp="1"/>
          </p:cNvSpPr>
          <p:nvPr/>
        </p:nvSpPr>
        <p:spPr>
          <a:xfrm>
            <a:off x="6076950" y="38481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Пилот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358E5B09-109B-4190-840D-F5D38D574A94}"/>
              </a:ext>
            </a:extLst>
          </p:cNvPr>
          <p:cNvSpPr>
            <a:spLocks noGrp="1"/>
          </p:cNvSpPr>
          <p:nvPr/>
        </p:nvSpPr>
        <p:spPr>
          <a:xfrm>
            <a:off x="6076950" y="4191000"/>
            <a:ext cx="1485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1 центр развития</a:t>
            </a:r>
          </a:p>
          <a:p>
            <a:pPr algn="l">
              <a:lnSpc>
                <a:spcPct val="106000"/>
              </a:lnSpc>
              <a:buNone/>
              <a:defRPr sz="1125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+ специалисты + семьи</a:t>
            </a:r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B0C09712-EFB5-433B-93A5-1EF72B350E48}"/>
              </a:ext>
            </a:extLst>
          </p:cNvPr>
          <p:cNvSpPr>
            <a:spLocks noGrp="1"/>
          </p:cNvSpPr>
          <p:nvPr/>
        </p:nvSpPr>
        <p:spPr>
          <a:xfrm>
            <a:off x="7839075" y="3181350"/>
            <a:ext cx="495300" cy="495300"/>
          </a:xfrm>
          <a:prstGeom prst="ellipse">
            <a:avLst/>
          </a:prstGeom>
          <a:solidFill>
            <a:srgbClr val="35B8A0"/>
          </a:solidFill>
          <a:ln w="0">
            <a:noFill/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00B4251D-4A92-4082-8D96-0A3E57078DC6}"/>
              </a:ext>
            </a:extLst>
          </p:cNvPr>
          <p:cNvSpPr>
            <a:spLocks noGrp="1"/>
          </p:cNvSpPr>
          <p:nvPr/>
        </p:nvSpPr>
        <p:spPr>
          <a:xfrm>
            <a:off x="7839075" y="318135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45" name="Стрелка: вправо 44">
            <a:extLst>
              <a:ext uri="{FF2B5EF4-FFF2-40B4-BE49-F238E27FC236}">
                <a16:creationId xmlns:a16="http://schemas.microsoft.com/office/drawing/2014/main" id="{28F9A1D6-8135-4BBC-9651-8B34F9E323FA}"/>
              </a:ext>
            </a:extLst>
          </p:cNvPr>
          <p:cNvSpPr>
            <a:spLocks noGrp="1"/>
          </p:cNvSpPr>
          <p:nvPr/>
        </p:nvSpPr>
        <p:spPr>
          <a:xfrm>
            <a:off x="8391525" y="3295650"/>
            <a:ext cx="1028700" cy="266700"/>
          </a:xfrm>
          <a:prstGeom prst="rightArrow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317040F7-AB37-4876-8E29-5F67800782A8}"/>
              </a:ext>
            </a:extLst>
          </p:cNvPr>
          <p:cNvSpPr>
            <a:spLocks noGrp="1"/>
          </p:cNvSpPr>
          <p:nvPr/>
        </p:nvSpPr>
        <p:spPr>
          <a:xfrm>
            <a:off x="7839075" y="38481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Партнёры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1C53A1C5-7D0F-40B6-84D7-59E66950868B}"/>
              </a:ext>
            </a:extLst>
          </p:cNvPr>
          <p:cNvSpPr>
            <a:spLocks noGrp="1"/>
          </p:cNvSpPr>
          <p:nvPr/>
        </p:nvSpPr>
        <p:spPr>
          <a:xfrm>
            <a:off x="7839075" y="4191000"/>
            <a:ext cx="1485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подключение новых</a:t>
            </a:r>
          </a:p>
          <a:p>
            <a:pPr algn="l">
              <a:lnSpc>
                <a:spcPct val="106000"/>
              </a:lnSpc>
              <a:buNone/>
              <a:defRPr sz="1125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специалистов и городов</a:t>
            </a:r>
          </a:p>
        </p:txBody>
      </p:sp>
      <p:sp>
        <p:nvSpPr>
          <p:cNvPr id="48" name="Овал 47">
            <a:extLst>
              <a:ext uri="{FF2B5EF4-FFF2-40B4-BE49-F238E27FC236}">
                <a16:creationId xmlns:a16="http://schemas.microsoft.com/office/drawing/2014/main" id="{A4CD8E0E-4685-40B1-A58F-B8A8C3820A1B}"/>
              </a:ext>
            </a:extLst>
          </p:cNvPr>
          <p:cNvSpPr>
            <a:spLocks noGrp="1"/>
          </p:cNvSpPr>
          <p:nvPr/>
        </p:nvSpPr>
        <p:spPr>
          <a:xfrm>
            <a:off x="9601200" y="3181350"/>
            <a:ext cx="495300" cy="495300"/>
          </a:xfrm>
          <a:prstGeom prst="ellipse">
            <a:avLst/>
          </a:prstGeom>
          <a:solidFill>
            <a:srgbClr val="69B7F5"/>
          </a:solidFill>
          <a:ln w="0">
            <a:noFill/>
            <a:prstDash val="solid"/>
          </a:ln>
        </p:spPr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0ACEFF89-FF06-42BA-BBF1-2485F4D9BB6B}"/>
              </a:ext>
            </a:extLst>
          </p:cNvPr>
          <p:cNvSpPr>
            <a:spLocks noGrp="1"/>
          </p:cNvSpPr>
          <p:nvPr/>
        </p:nvSpPr>
        <p:spPr>
          <a:xfrm>
            <a:off x="9601200" y="318135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DD90D73F-299D-413E-B789-9D0C490EBD9A}"/>
              </a:ext>
            </a:extLst>
          </p:cNvPr>
          <p:cNvSpPr>
            <a:spLocks noGrp="1"/>
          </p:cNvSpPr>
          <p:nvPr/>
        </p:nvSpPr>
        <p:spPr>
          <a:xfrm>
            <a:off x="9601200" y="38481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Регионы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3D0522E1-632E-4AC3-8C46-A30394DB334B}"/>
              </a:ext>
            </a:extLst>
          </p:cNvPr>
          <p:cNvSpPr>
            <a:spLocks noGrp="1"/>
          </p:cNvSpPr>
          <p:nvPr/>
        </p:nvSpPr>
        <p:spPr>
          <a:xfrm>
            <a:off x="9601200" y="4191000"/>
            <a:ext cx="1485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единый стандарт данных</a:t>
            </a:r>
          </a:p>
          <a:p>
            <a:pPr algn="l">
              <a:lnSpc>
                <a:spcPct val="106000"/>
              </a:lnSpc>
              <a:buNone/>
              <a:defRPr sz="1125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и двуязычный контент</a:t>
            </a:r>
          </a:p>
        </p:txBody>
      </p: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ED1467F5-32D2-45CD-825F-53C036121998}"/>
              </a:ext>
            </a:extLst>
          </p:cNvPr>
          <p:cNvSpPr>
            <a:spLocks noGrp="1"/>
          </p:cNvSpPr>
          <p:nvPr/>
        </p:nvSpPr>
        <p:spPr>
          <a:xfrm>
            <a:off x="514350" y="5276850"/>
            <a:ext cx="11163300" cy="742950"/>
          </a:xfrm>
          <a:prstGeom prst="roundRect">
            <a:avLst>
              <a:gd name="adj" fmla="val 10256"/>
            </a:avLst>
          </a:prstGeom>
          <a:solidFill>
            <a:srgbClr val="DDF4EE"/>
          </a:solidFill>
          <a:ln w="0">
            <a:noFill/>
            <a:prstDash val="solid"/>
          </a:ln>
        </p:spPr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8E00E9FD-635F-4961-B2FE-E605667320F6}"/>
              </a:ext>
            </a:extLst>
          </p:cNvPr>
          <p:cNvSpPr>
            <a:spLocks noGrp="1"/>
          </p:cNvSpPr>
          <p:nvPr/>
        </p:nvSpPr>
        <p:spPr>
          <a:xfrm>
            <a:off x="742950" y="542925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ИЗМЕРЯЕМ В ПИЛОТЕ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624EB8BB-BC17-430B-999D-9F34D3D33056}"/>
              </a:ext>
            </a:extLst>
          </p:cNvPr>
          <p:cNvSpPr>
            <a:spLocks noGrp="1"/>
          </p:cNvSpPr>
          <p:nvPr/>
        </p:nvSpPr>
        <p:spPr>
          <a:xfrm>
            <a:off x="2781300" y="5429250"/>
            <a:ext cx="8591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время подготовки плана  ·  выполнение заданий  ·  своевременность пересмотра  ·  понятность рекомендаций семье</a:t>
            </a:r>
          </a:p>
        </p:txBody>
      </p:sp>
    </p:spTree>
    <p:extLst>
      <p:ext uri="{BB962C8B-B14F-4D97-AF65-F5344CB8AC3E}">
        <p14:creationId xmlns:p14="http://schemas.microsoft.com/office/powerpoint/2010/main" val="265750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ADF230D1-3B09-49E7-931F-986C7794DE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EE3970D-7D6D-4EB6-8A0F-46A99CA49C64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38150" cy="438150"/>
          </a:xfrm>
          <a:prstGeom prst="rect">
            <a:avLst/>
          </a:prstGeom>
          <a:solidFill>
            <a:srgbClr val="35B8A0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BQ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AE5157B-7022-4D25-A430-E1809B8DEACD}"/>
              </a:ext>
            </a:extLst>
          </p:cNvPr>
          <p:cNvSpPr>
            <a:spLocks noGrp="1"/>
          </p:cNvSpPr>
          <p:nvPr/>
        </p:nvSpPr>
        <p:spPr>
          <a:xfrm>
            <a:off x="1066800" y="2286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BalaQoldau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ACDDF14-85DD-4DB8-BAC8-FD6B39A050FC}"/>
              </a:ext>
            </a:extLst>
          </p:cNvPr>
          <p:cNvSpPr>
            <a:spLocks noGrp="1"/>
          </p:cNvSpPr>
          <p:nvPr/>
        </p:nvSpPr>
        <p:spPr>
          <a:xfrm>
            <a:off x="1066800" y="485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Баланы Қолдау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53E11BF-C478-4376-8869-6D8D223422BA}"/>
              </a:ext>
            </a:extLst>
          </p:cNvPr>
          <p:cNvSpPr>
            <a:spLocks noGrp="1"/>
          </p:cNvSpPr>
          <p:nvPr/>
        </p:nvSpPr>
        <p:spPr>
          <a:xfrm>
            <a:off x="9696450" y="266700"/>
            <a:ext cx="1638300" cy="285750"/>
          </a:xfrm>
          <a:prstGeom prst="roundRect">
            <a:avLst>
              <a:gd name="adj" fmla="val 26667"/>
            </a:avLst>
          </a:prstGeom>
          <a:solidFill>
            <a:srgbClr val="DDF4EE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F89913D-6BA7-494F-8A31-5A071FC22E72}"/>
              </a:ext>
            </a:extLst>
          </p:cNvPr>
          <p:cNvSpPr>
            <a:spLocks noGrp="1"/>
          </p:cNvSpPr>
          <p:nvPr/>
        </p:nvSpPr>
        <p:spPr>
          <a:xfrm>
            <a:off x="9791700" y="276225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ДЕМО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379ADB6-4635-4EB2-B8F7-76F4F1DC9609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ФИНАЛЬНЫЙ ПИТЧ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E0FADC0-CA96-46A9-86E6-9B56F84744DB}"/>
              </a:ext>
            </a:extLst>
          </p:cNvPr>
          <p:cNvSpPr>
            <a:spLocks noGrp="1"/>
          </p:cNvSpPr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35B8A0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F5D1AEB-82FD-4EFC-B765-06164485FBE8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57C"/>
                </a:solidFill>
                <a:latin typeface="Arial"/>
                <a:ea typeface="Arial"/>
                <a:cs typeface="Arial"/>
              </a:rPr>
              <a:t>BalaQoldau · Баланы Қолдау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CE5063-42E9-47F4-98E2-283852FCF263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7349CC2-AFF9-4A0B-BDF8-E9893D7C2B18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5715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1000"/>
              </a:lnSpc>
              <a:buNone/>
              <a:defRPr sz="3075"/>
            </a:pPr>
            <a:r>
              <a:rPr sz="3075" b="1" dirty="0" err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BalaQoldau</a:t>
            </a:r>
            <a:r>
              <a:rPr sz="3075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3075" b="1" dirty="0" err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превращает</a:t>
            </a:r>
            <a:r>
              <a:rPr sz="3075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
</a:t>
            </a:r>
            <a:r>
              <a:rPr sz="3075" b="1" dirty="0" err="1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рекомендации</a:t>
            </a:r>
            <a:r>
              <a:rPr sz="3075" b="1" dirty="0">
                <a:solidFill>
                  <a:srgbClr val="263238"/>
                </a:solidFill>
                <a:latin typeface="Bahnschrift"/>
                <a:ea typeface="Bahnschrift"/>
                <a:cs typeface="Bahnschrift"/>
              </a:rPr>
              <a:t> в </a:t>
            </a:r>
            <a:r>
              <a:rPr sz="3075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понятные</a:t>
            </a:r>
            <a:r>
              <a:rPr sz="3075" b="1" dirty="0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
</a:t>
            </a:r>
            <a:r>
              <a:rPr sz="3075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ежедневные</a:t>
            </a:r>
            <a:r>
              <a:rPr sz="3075" b="1" dirty="0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3075" b="1" dirty="0" err="1">
                <a:solidFill>
                  <a:srgbClr val="35B8A0"/>
                </a:solidFill>
                <a:latin typeface="Bahnschrift"/>
                <a:ea typeface="Bahnschrift"/>
                <a:cs typeface="Bahnschrift"/>
              </a:rPr>
              <a:t>шаги</a:t>
            </a:r>
            <a:endParaRPr sz="3075" b="1" dirty="0">
              <a:solidFill>
                <a:srgbClr val="35B8A0"/>
              </a:solidFill>
              <a:latin typeface="Bahnschrift"/>
              <a:ea typeface="Bahnschrift"/>
              <a:cs typeface="Bahnschrift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88FE289-C45B-4398-9F03-3F624A3181F9}"/>
              </a:ext>
            </a:extLst>
          </p:cNvPr>
          <p:cNvSpPr>
            <a:spLocks noGrp="1"/>
          </p:cNvSpPr>
          <p:nvPr/>
        </p:nvSpPr>
        <p:spPr>
          <a:xfrm>
            <a:off x="533400" y="28194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6475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57C"/>
                </a:solidFill>
                <a:latin typeface="Arial"/>
                <a:ea typeface="Arial"/>
                <a:cs typeface="Arial"/>
              </a:rPr>
              <a:t>Платформа уже объединяет ключевой путь семьи: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4451B1D-57C9-4052-9C60-A2D8FAAA9932}"/>
              </a:ext>
            </a:extLst>
          </p:cNvPr>
          <p:cNvSpPr>
            <a:spLocks noGrp="1"/>
          </p:cNvSpPr>
          <p:nvPr/>
        </p:nvSpPr>
        <p:spPr>
          <a:xfrm>
            <a:off x="533400" y="3295650"/>
            <a:ext cx="50482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DED4"/>
            </a:solidFill>
            <a:prstDash val="solid"/>
          </a:ln>
        </p:spPr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B0DC8792-D898-4BDE-874C-30CCA7BFED09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381000" cy="381000"/>
          </a:xfrm>
          <a:prstGeom prst="ellipse">
            <a:avLst/>
          </a:prstGeom>
          <a:solidFill>
            <a:srgbClr val="FF8E7A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65BAC6A-783F-4980-BF03-99E66B2FB4E1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F48E1C8F-0CB5-478B-8E13-2614DF89D30C}"/>
              </a:ext>
            </a:extLst>
          </p:cNvPr>
          <p:cNvSpPr>
            <a:spLocks noGrp="1"/>
          </p:cNvSpPr>
          <p:nvPr/>
        </p:nvSpPr>
        <p:spPr>
          <a:xfrm>
            <a:off x="1162050" y="3390900"/>
            <a:ext cx="4171950" cy="342900"/>
          </a:xfrm>
          <a:prstGeom prst="roundRect">
            <a:avLst>
              <a:gd name="adj" fmla="val 22222"/>
            </a:avLst>
          </a:prstGeom>
          <a:solidFill>
            <a:srgbClr val="FFE2DC"/>
          </a:solidFill>
          <a:ln w="0">
            <a:noFill/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63FC870-B938-4DAE-A353-64764EA83970}"/>
              </a:ext>
            </a:extLst>
          </p:cNvPr>
          <p:cNvSpPr>
            <a:spLocks noGrp="1"/>
          </p:cNvSpPr>
          <p:nvPr/>
        </p:nvSpPr>
        <p:spPr>
          <a:xfrm>
            <a:off x="1257300" y="3400425"/>
            <a:ext cx="3981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Найти специалиста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741CF623-1C6F-45BF-8826-EEB3775E7236}"/>
              </a:ext>
            </a:extLst>
          </p:cNvPr>
          <p:cNvSpPr>
            <a:spLocks noGrp="1"/>
          </p:cNvSpPr>
          <p:nvPr/>
        </p:nvSpPr>
        <p:spPr>
          <a:xfrm>
            <a:off x="533400" y="3962400"/>
            <a:ext cx="50482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DED4"/>
            </a:solidFill>
            <a:prstDash val="solid"/>
          </a:ln>
        </p:spPr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5F43E573-B3E1-41B3-94FC-296DCE0C5E4F}"/>
              </a:ext>
            </a:extLst>
          </p:cNvPr>
          <p:cNvSpPr>
            <a:spLocks noGrp="1"/>
          </p:cNvSpPr>
          <p:nvPr/>
        </p:nvSpPr>
        <p:spPr>
          <a:xfrm>
            <a:off x="666750" y="4038600"/>
            <a:ext cx="381000" cy="381000"/>
          </a:xfrm>
          <a:prstGeom prst="ellipse">
            <a:avLst/>
          </a:prstGeom>
          <a:solidFill>
            <a:srgbClr val="35B8A0"/>
          </a:solidFill>
          <a:ln w="0">
            <a:noFill/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6E06418-7859-415F-8612-9BC619ABEF4E}"/>
              </a:ext>
            </a:extLst>
          </p:cNvPr>
          <p:cNvSpPr>
            <a:spLocks noGrp="1"/>
          </p:cNvSpPr>
          <p:nvPr/>
        </p:nvSpPr>
        <p:spPr>
          <a:xfrm>
            <a:off x="666750" y="40386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BB1CCC0-E7E5-407C-8989-88081DF679B1}"/>
              </a:ext>
            </a:extLst>
          </p:cNvPr>
          <p:cNvSpPr>
            <a:spLocks noGrp="1"/>
          </p:cNvSpPr>
          <p:nvPr/>
        </p:nvSpPr>
        <p:spPr>
          <a:xfrm>
            <a:off x="1162050" y="4057650"/>
            <a:ext cx="4171950" cy="342900"/>
          </a:xfrm>
          <a:prstGeom prst="roundRect">
            <a:avLst>
              <a:gd name="adj" fmla="val 22222"/>
            </a:avLst>
          </a:prstGeom>
          <a:solidFill>
            <a:srgbClr val="DDF4EE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D9A8926-E0F4-4F97-A4D7-AB9F35BFDA3C}"/>
              </a:ext>
            </a:extLst>
          </p:cNvPr>
          <p:cNvSpPr>
            <a:spLocks noGrp="1"/>
          </p:cNvSpPr>
          <p:nvPr/>
        </p:nvSpPr>
        <p:spPr>
          <a:xfrm>
            <a:off x="1257300" y="4067175"/>
            <a:ext cx="3981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Получить проверенный план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F8BAAC92-B1D5-4CFA-9C8E-A7A89BCF0825}"/>
              </a:ext>
            </a:extLst>
          </p:cNvPr>
          <p:cNvSpPr>
            <a:spLocks noGrp="1"/>
          </p:cNvSpPr>
          <p:nvPr/>
        </p:nvSpPr>
        <p:spPr>
          <a:xfrm>
            <a:off x="533400" y="4629150"/>
            <a:ext cx="50482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DED4"/>
            </a:solidFill>
            <a:prstDash val="solid"/>
          </a:ln>
        </p:spPr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36C46E7C-C04B-436D-AF6A-5760B2BA0975}"/>
              </a:ext>
            </a:extLst>
          </p:cNvPr>
          <p:cNvSpPr>
            <a:spLocks noGrp="1"/>
          </p:cNvSpPr>
          <p:nvPr/>
        </p:nvSpPr>
        <p:spPr>
          <a:xfrm>
            <a:off x="666750" y="4705350"/>
            <a:ext cx="381000" cy="381000"/>
          </a:xfrm>
          <a:prstGeom prst="ellipse">
            <a:avLst/>
          </a:prstGeom>
          <a:solidFill>
            <a:srgbClr val="69B7F5"/>
          </a:solidFill>
          <a:ln w="0">
            <a:noFill/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2702092-9936-4881-ADAD-9C8929E0AE31}"/>
              </a:ext>
            </a:extLst>
          </p:cNvPr>
          <p:cNvSpPr>
            <a:spLocks noGrp="1"/>
          </p:cNvSpPr>
          <p:nvPr/>
        </p:nvSpPr>
        <p:spPr>
          <a:xfrm>
            <a:off x="666750" y="47053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8F65CB02-1A2B-40F1-A565-99C269F0410D}"/>
              </a:ext>
            </a:extLst>
          </p:cNvPr>
          <p:cNvSpPr>
            <a:spLocks noGrp="1"/>
          </p:cNvSpPr>
          <p:nvPr/>
        </p:nvSpPr>
        <p:spPr>
          <a:xfrm>
            <a:off x="1162050" y="4724400"/>
            <a:ext cx="4171950" cy="342900"/>
          </a:xfrm>
          <a:prstGeom prst="roundRect">
            <a:avLst>
              <a:gd name="adj" fmla="val 22222"/>
            </a:avLst>
          </a:prstGeom>
          <a:solidFill>
            <a:srgbClr val="E2F2FF"/>
          </a:solidFill>
          <a:ln w="0">
            <a:noFill/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C32448A-D53A-40BF-B9E0-A41328AB5DFC}"/>
              </a:ext>
            </a:extLst>
          </p:cNvPr>
          <p:cNvSpPr>
            <a:spLocks noGrp="1"/>
          </p:cNvSpPr>
          <p:nvPr/>
        </p:nvSpPr>
        <p:spPr>
          <a:xfrm>
            <a:off x="1257300" y="4733925"/>
            <a:ext cx="3981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Видеть прогресс ребёнка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23E1DECD-E576-44CE-81CC-BB59C19CDB44}"/>
              </a:ext>
            </a:extLst>
          </p:cNvPr>
          <p:cNvSpPr>
            <a:spLocks noGrp="1"/>
          </p:cNvSpPr>
          <p:nvPr/>
        </p:nvSpPr>
        <p:spPr>
          <a:xfrm>
            <a:off x="533400" y="5486400"/>
            <a:ext cx="5048250" cy="609600"/>
          </a:xfrm>
          <a:prstGeom prst="roundRect">
            <a:avLst>
              <a:gd name="adj" fmla="val 12500"/>
            </a:avLst>
          </a:prstGeom>
          <a:solidFill>
            <a:srgbClr val="263238"/>
          </a:solidFill>
          <a:ln w="0">
            <a:noFill/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6E7C063-A901-449A-BA88-2B48E4DEBE07}"/>
              </a:ext>
            </a:extLst>
          </p:cNvPr>
          <p:cNvSpPr>
            <a:spLocks noGrp="1"/>
          </p:cNvSpPr>
          <p:nvPr/>
        </p:nvSpPr>
        <p:spPr>
          <a:xfrm>
            <a:off x="742950" y="5600700"/>
            <a:ext cx="4629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AI предлагает. Специалист решает. Семья действует.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8465FD2B-08AA-4EFE-8DBF-5936B3769549}"/>
              </a:ext>
            </a:extLst>
          </p:cNvPr>
          <p:cNvSpPr>
            <a:spLocks noGrp="1"/>
          </p:cNvSpPr>
          <p:nvPr/>
        </p:nvSpPr>
        <p:spPr>
          <a:xfrm>
            <a:off x="6343650" y="1219200"/>
            <a:ext cx="5334000" cy="32385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7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82D185F4-EA31-4BF4-AC8C-3571FCAFC11C}"/>
              </a:ext>
            </a:extLst>
          </p:cNvPr>
          <p:cNvSpPr>
            <a:spLocks noGrp="1"/>
          </p:cNvSpPr>
          <p:nvPr/>
        </p:nvSpPr>
        <p:spPr>
          <a:xfrm>
            <a:off x="6496050" y="1371600"/>
            <a:ext cx="5029200" cy="323850"/>
          </a:xfrm>
          <a:prstGeom prst="roundRect">
            <a:avLst>
              <a:gd name="adj" fmla="val 23529"/>
            </a:avLst>
          </a:prstGeom>
          <a:solidFill>
            <a:srgbClr val="263238"/>
          </a:solidFill>
          <a:ln w="0">
            <a:noFill/>
            <a:prstDash val="solid"/>
          </a:ln>
        </p:spPr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95A5A78D-D4DB-4A36-9EB5-BDCCEE51F00D}"/>
              </a:ext>
            </a:extLst>
          </p:cNvPr>
          <p:cNvSpPr>
            <a:spLocks noGrp="1"/>
          </p:cNvSpPr>
          <p:nvPr/>
        </p:nvSpPr>
        <p:spPr>
          <a:xfrm>
            <a:off x="6648450" y="1476375"/>
            <a:ext cx="95250" cy="95250"/>
          </a:xfrm>
          <a:prstGeom prst="ellipse">
            <a:avLst/>
          </a:prstGeom>
          <a:solidFill>
            <a:srgbClr val="FF8E7A"/>
          </a:solidFill>
          <a:ln w="0">
            <a:noFill/>
            <a:prstDash val="solid"/>
          </a:ln>
        </p:spPr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DEB47E3C-F05F-4329-AE27-33627A3D2201}"/>
              </a:ext>
            </a:extLst>
          </p:cNvPr>
          <p:cNvSpPr>
            <a:spLocks noGrp="1"/>
          </p:cNvSpPr>
          <p:nvPr/>
        </p:nvSpPr>
        <p:spPr>
          <a:xfrm>
            <a:off x="6800850" y="1476375"/>
            <a:ext cx="95250" cy="95250"/>
          </a:xfrm>
          <a:prstGeom prst="ellipse">
            <a:avLst/>
          </a:prstGeom>
          <a:solidFill>
            <a:srgbClr val="FFD66B"/>
          </a:solidFill>
          <a:ln w="0">
            <a:noFill/>
            <a:prstDash val="solid"/>
          </a:ln>
        </p:spPr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5C5F80DB-3FB4-468C-B09A-17FC98CCE8B8}"/>
              </a:ext>
            </a:extLst>
          </p:cNvPr>
          <p:cNvSpPr>
            <a:spLocks noGrp="1"/>
          </p:cNvSpPr>
          <p:nvPr/>
        </p:nvSpPr>
        <p:spPr>
          <a:xfrm>
            <a:off x="6953250" y="1476375"/>
            <a:ext cx="95250" cy="95250"/>
          </a:xfrm>
          <a:prstGeom prst="ellipse">
            <a:avLst/>
          </a:prstGeom>
          <a:solidFill>
            <a:srgbClr val="35B8A0"/>
          </a:solidFill>
          <a:ln w="0">
            <a:noFill/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75CC70E-BBF9-49C1-8B9D-F49CCFFD232C}"/>
              </a:ext>
            </a:extLst>
          </p:cNvPr>
          <p:cNvSpPr>
            <a:spLocks noGrp="1"/>
          </p:cNvSpPr>
          <p:nvPr/>
        </p:nvSpPr>
        <p:spPr>
          <a:xfrm>
            <a:off x="7239000" y="142875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DDE6E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DDE6E8"/>
                </a:solidFill>
                <a:latin typeface="Arial"/>
                <a:ea typeface="Arial"/>
                <a:cs typeface="Arial"/>
              </a:rPr>
              <a:t>balaqoldau-support-demo.mukhtarovagulsims.chatgpt.site</a:t>
            </a:r>
          </a:p>
        </p:txBody>
      </p:sp>
      <p:pic>
        <p:nvPicPr>
          <p:cNvPr id="75" name="Рисунок 7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96050" y="1755123"/>
            <a:ext cx="5029200" cy="2404780"/>
          </a:xfrm>
          <a:prstGeom prst="roundRect">
            <a:avLst>
              <a:gd name="adj" fmla="val 4743"/>
            </a:avLst>
          </a:prstGeom>
        </p:spPr>
      </p:pic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CF7DFA21-85E6-4F37-A0CA-FAE9C58B1479}"/>
              </a:ext>
            </a:extLst>
          </p:cNvPr>
          <p:cNvSpPr>
            <a:spLocks noGrp="1"/>
          </p:cNvSpPr>
          <p:nvPr/>
        </p:nvSpPr>
        <p:spPr>
          <a:xfrm>
            <a:off x="8191500" y="4724400"/>
            <a:ext cx="1809750" cy="400050"/>
          </a:xfrm>
          <a:prstGeom prst="roundRect">
            <a:avLst>
              <a:gd name="adj" fmla="val 19048"/>
            </a:avLst>
          </a:prstGeom>
          <a:solidFill>
            <a:srgbClr val="35B8A0"/>
          </a:solidFill>
          <a:ln w="0">
            <a:noFill/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D6C0E5F8-7190-4656-8834-1D516E9A7AAA}"/>
              </a:ext>
            </a:extLst>
          </p:cNvPr>
          <p:cNvSpPr>
            <a:spLocks noGrp="1"/>
          </p:cNvSpPr>
          <p:nvPr/>
        </p:nvSpPr>
        <p:spPr>
          <a:xfrm>
            <a:off x="8286750" y="4733925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РАБОЧИЙ ПРОТОТИП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9E24FA1E-56F9-478A-98DD-A3565D36BB06}"/>
              </a:ext>
            </a:extLst>
          </p:cNvPr>
          <p:cNvSpPr>
            <a:spLocks noGrp="1"/>
          </p:cNvSpPr>
          <p:nvPr/>
        </p:nvSpPr>
        <p:spPr>
          <a:xfrm>
            <a:off x="6515100" y="5295900"/>
            <a:ext cx="499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137B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7B70"/>
                </a:solidFill>
                <a:latin typeface="Arial"/>
                <a:ea typeface="Arial"/>
                <a:cs typeface="Arial"/>
              </a:rPr>
              <a:t>Пилот: центр развития + специалисты + семьи</a:t>
            </a:r>
          </a:p>
        </p:txBody>
      </p:sp>
    </p:spTree>
    <p:extLst>
      <p:ext uri="{BB962C8B-B14F-4D97-AF65-F5344CB8AC3E}">
        <p14:creationId xmlns:p14="http://schemas.microsoft.com/office/powerpoint/2010/main" val="5527417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518</Words>
  <Application>Microsoft Office PowerPoint</Application>
  <DocSecurity>0</DocSecurity>
  <PresentationFormat>Широкоэкранный</PresentationFormat>
  <Paragraphs>147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Bahnschrift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malimkka m</cp:lastModifiedBy>
  <cp:revision>2</cp:revision>
  <dcterms:created xsi:type="dcterms:W3CDTF">2026-07-23T08:55:39Z</dcterms:created>
  <dcterms:modified xsi:type="dcterms:W3CDTF">2026-07-23T10:07:33Z</dcterms:modified>
</cp:coreProperties>
</file>